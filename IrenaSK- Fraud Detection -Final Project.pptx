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nva Sans" panose="020B0604020202020204" charset="0"/>
      <p:regular r:id="rId17"/>
    </p:embeddedFont>
    <p:embeddedFont>
      <p:font typeface="Work Sans" pitchFamily="2" charset="0"/>
      <p:regular r:id="rId18"/>
    </p:embeddedFont>
    <p:embeddedFont>
      <p:font typeface="Work Sans Bold" panose="020B0604020202020204" charset="0"/>
      <p:regular r:id="rId19"/>
    </p:embeddedFont>
    <p:embeddedFont>
      <p:font typeface="Work Sans Italics" panose="020B0604020202020204" charset="0"/>
      <p:regular r:id="rId20"/>
    </p:embeddedFont>
    <p:embeddedFont>
      <p:font typeface="Work Sans Semi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79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irishask/ML_Fraud_detectio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87422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blipFill>
              <a:blip r:embed="rId2"/>
              <a:stretch>
                <a:fillRect l="-1095" t="-2114" r="-1222" b="-1010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588791" y="4545897"/>
            <a:ext cx="7247369" cy="5190908"/>
            <a:chOff x="0" y="0"/>
            <a:chExt cx="1289737" cy="9237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9737" cy="923771"/>
            </a:xfrm>
            <a:custGeom>
              <a:avLst/>
              <a:gdLst/>
              <a:ahLst/>
              <a:cxnLst/>
              <a:rect l="l" t="t" r="r" b="b"/>
              <a:pathLst>
                <a:path w="1289737" h="923771">
                  <a:moveTo>
                    <a:pt x="42730" y="0"/>
                  </a:moveTo>
                  <a:lnTo>
                    <a:pt x="1247008" y="0"/>
                  </a:lnTo>
                  <a:cubicBezTo>
                    <a:pt x="1258340" y="0"/>
                    <a:pt x="1269209" y="4502"/>
                    <a:pt x="1277222" y="12515"/>
                  </a:cubicBezTo>
                  <a:cubicBezTo>
                    <a:pt x="1285235" y="20529"/>
                    <a:pt x="1289737" y="31397"/>
                    <a:pt x="1289737" y="42730"/>
                  </a:cubicBezTo>
                  <a:lnTo>
                    <a:pt x="1289737" y="881041"/>
                  </a:lnTo>
                  <a:cubicBezTo>
                    <a:pt x="1289737" y="892374"/>
                    <a:pt x="1285235" y="903242"/>
                    <a:pt x="1277222" y="911255"/>
                  </a:cubicBezTo>
                  <a:cubicBezTo>
                    <a:pt x="1269209" y="919269"/>
                    <a:pt x="1258340" y="923771"/>
                    <a:pt x="1247008" y="923771"/>
                  </a:cubicBezTo>
                  <a:lnTo>
                    <a:pt x="42730" y="923771"/>
                  </a:lnTo>
                  <a:cubicBezTo>
                    <a:pt x="31397" y="923771"/>
                    <a:pt x="20529" y="919269"/>
                    <a:pt x="12515" y="911255"/>
                  </a:cubicBezTo>
                  <a:cubicBezTo>
                    <a:pt x="4502" y="903242"/>
                    <a:pt x="0" y="892374"/>
                    <a:pt x="0" y="881041"/>
                  </a:cubicBezTo>
                  <a:lnTo>
                    <a:pt x="0" y="42730"/>
                  </a:lnTo>
                  <a:cubicBezTo>
                    <a:pt x="0" y="31397"/>
                    <a:pt x="4502" y="20529"/>
                    <a:pt x="12515" y="12515"/>
                  </a:cubicBezTo>
                  <a:cubicBezTo>
                    <a:pt x="20529" y="4502"/>
                    <a:pt x="31397" y="0"/>
                    <a:pt x="42730" y="0"/>
                  </a:cubicBezTo>
                  <a:close/>
                </a:path>
              </a:pathLst>
            </a:custGeom>
            <a:blipFill>
              <a:blip r:embed="rId3"/>
              <a:stretch>
                <a:fillRect l="-174" r="-17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7697701"/>
            <a:ext cx="8747254" cy="210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 b="1" spc="-140">
                <a:solidFill>
                  <a:srgbClr val="CFD8DC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Irena Shtelman Kravitz</a:t>
            </a:r>
          </a:p>
          <a:p>
            <a:pPr algn="l">
              <a:lnSpc>
                <a:spcPts val="3315"/>
              </a:lnSpc>
            </a:pPr>
            <a:r>
              <a:rPr lang="en-US" sz="2550" spc="-140">
                <a:solidFill>
                  <a:srgbClr val="CFD8DC"/>
                </a:solidFill>
                <a:latin typeface="Work Sans"/>
                <a:ea typeface="Work Sans"/>
                <a:cs typeface="Work Sans"/>
                <a:sym typeface="Work Sans"/>
              </a:rPr>
              <a:t>MSc. in Data Science student at HIT</a:t>
            </a:r>
          </a:p>
          <a:p>
            <a:pPr algn="l">
              <a:lnSpc>
                <a:spcPts val="3315"/>
              </a:lnSpc>
            </a:pPr>
            <a:r>
              <a:rPr lang="en-US" sz="2550" spc="-140">
                <a:solidFill>
                  <a:srgbClr val="CFD8DC"/>
                </a:solidFill>
                <a:latin typeface="Work Sans"/>
                <a:ea typeface="Work Sans"/>
                <a:cs typeface="Work Sans"/>
                <a:sym typeface="Work Sans"/>
              </a:rPr>
              <a:t>GitHub: </a:t>
            </a:r>
            <a:r>
              <a:rPr lang="en-US" sz="2550" u="sng" spc="-14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  <a:hlinkClick r:id="rId4" tooltip="https://github.com/irishask/ML_Fraud_detection"/>
              </a:rPr>
              <a:t>github.com/irishask/ieee-cis-fraud-detection</a:t>
            </a:r>
          </a:p>
          <a:p>
            <a:pPr algn="l">
              <a:lnSpc>
                <a:spcPts val="3315"/>
              </a:lnSpc>
            </a:pPr>
            <a:endParaRPr lang="en-US" sz="2550" u="sng" spc="-14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  <a:hlinkClick r:id="rId4" tooltip="https://github.com/irishask/ML_Fraud_detection"/>
            </a:endParaRPr>
          </a:p>
          <a:p>
            <a:pPr marL="0" lvl="0" indent="0" algn="l">
              <a:lnSpc>
                <a:spcPts val="3315"/>
              </a:lnSpc>
            </a:pPr>
            <a:r>
              <a:rPr lang="en-US" sz="2550" spc="-140">
                <a:solidFill>
                  <a:srgbClr val="CFD8DC"/>
                </a:solidFill>
                <a:latin typeface="Work Sans"/>
                <a:ea typeface="Work Sans"/>
                <a:cs typeface="Work Sans"/>
                <a:sym typeface="Work Sans"/>
              </a:rPr>
              <a:t>March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6750" y="4507797"/>
            <a:ext cx="8947838" cy="2136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3024" b="1" spc="-166">
                <a:solidFill>
                  <a:srgbClr val="CFD8DC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HIT — Machine Learning Course |  Final Project</a:t>
            </a:r>
          </a:p>
          <a:p>
            <a:pPr algn="l">
              <a:lnSpc>
                <a:spcPts val="3281"/>
              </a:lnSpc>
            </a:pPr>
            <a:endParaRPr lang="en-US" sz="3024" b="1" spc="-166">
              <a:solidFill>
                <a:srgbClr val="CFD8DC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3281"/>
              </a:lnSpc>
            </a:pPr>
            <a:r>
              <a:rPr lang="en-US" sz="2524" spc="-138">
                <a:solidFill>
                  <a:srgbClr val="CFD8DC"/>
                </a:solidFill>
                <a:latin typeface="Work Sans"/>
                <a:ea typeface="Work Sans"/>
                <a:cs typeface="Work Sans"/>
                <a:sym typeface="Work Sans"/>
              </a:rPr>
              <a:t>Kaggle IEEE-CIS Competition </a:t>
            </a:r>
          </a:p>
          <a:p>
            <a:pPr algn="l">
              <a:lnSpc>
                <a:spcPts val="3281"/>
              </a:lnSpc>
            </a:pPr>
            <a:r>
              <a:rPr lang="en-US" sz="2524" spc="-138">
                <a:solidFill>
                  <a:srgbClr val="CFD8DC"/>
                </a:solidFill>
                <a:latin typeface="Work Sans"/>
                <a:ea typeface="Work Sans"/>
                <a:cs typeface="Work Sans"/>
                <a:sym typeface="Work Sans"/>
              </a:rPr>
              <a:t>Vesta Corporation Dataset</a:t>
            </a:r>
          </a:p>
          <a:p>
            <a:pPr marL="0" lvl="0" indent="0" algn="l">
              <a:lnSpc>
                <a:spcPts val="3281"/>
              </a:lnSpc>
            </a:pPr>
            <a:endParaRPr lang="en-US" sz="2524" spc="-138">
              <a:solidFill>
                <a:srgbClr val="CFD8D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55022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17423" y="6948749"/>
            <a:ext cx="3141077" cy="2852990"/>
          </a:xfrm>
          <a:custGeom>
            <a:avLst/>
            <a:gdLst/>
            <a:ahLst/>
            <a:cxnLst/>
            <a:rect l="l" t="t" r="r" b="b"/>
            <a:pathLst>
              <a:path w="3141077" h="2852990">
                <a:moveTo>
                  <a:pt x="0" y="0"/>
                </a:moveTo>
                <a:lnTo>
                  <a:pt x="3141077" y="0"/>
                </a:lnTo>
                <a:lnTo>
                  <a:pt x="3141077" y="2852991"/>
                </a:lnTo>
                <a:lnTo>
                  <a:pt x="0" y="2852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95916" y="792100"/>
            <a:ext cx="15716646" cy="1997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00"/>
              </a:lnSpc>
            </a:pPr>
            <a:r>
              <a:rPr lang="en-US" sz="8000" b="1" spc="-440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Project Goal &amp; Statement</a:t>
            </a:r>
          </a:p>
          <a:p>
            <a:pPr marL="0" lvl="0" indent="0" algn="ctr">
              <a:lnSpc>
                <a:spcPts val="7600"/>
              </a:lnSpc>
            </a:pPr>
            <a:endParaRPr lang="en-US" sz="8000" b="1" spc="-440">
              <a:solidFill>
                <a:srgbClr val="FFFFF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17423" y="3307137"/>
            <a:ext cx="6536418" cy="335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 u="sng" spc="-164">
                <a:solidFill>
                  <a:srgbClr val="02A8E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Project Goal</a:t>
            </a:r>
          </a:p>
          <a:p>
            <a:pPr algn="l">
              <a:lnSpc>
                <a:spcPts val="3249"/>
              </a:lnSpc>
            </a:pPr>
            <a:endParaRPr lang="en-US" sz="2999" b="1" u="sng" spc="-164">
              <a:solidFill>
                <a:srgbClr val="02A8E7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  <a:p>
            <a:pPr algn="l">
              <a:lnSpc>
                <a:spcPts val="3249"/>
              </a:lnSpc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Predict the probability that an online transaction is fraudulent, enabling real-time fraud prevention that protects both consumers and businesses from financial loss while minimizing false positives that block legitimate purchases.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65942" y="3307137"/>
            <a:ext cx="9635510" cy="663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  <a:spcBef>
                <a:spcPct val="0"/>
              </a:spcBef>
            </a:pPr>
            <a:r>
              <a:rPr lang="en-US" sz="2999" b="1" u="sng" strike="noStrike" spc="-164">
                <a:solidFill>
                  <a:srgbClr val="02A8E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Problem Statement </a:t>
            </a: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endParaRPr lang="en-US" sz="2999" b="1" u="sng" strike="noStrike" spc="-164">
              <a:solidFill>
                <a:srgbClr val="02A8E7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Online payment fraud exploits stolen cards and identity theft to make unauthorized purchases before detection. The task: given a real e-commerce transaction, predict the probability it is fraudulent.</a:t>
            </a: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endParaRPr lang="en-US" sz="2499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What makes it hard: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3.5% fraud rate — standard accuracy is meaningless; PR AUC required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Temporal structure — fraud patterns evolve; random splits leak future data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339 anonymous V-columns — strong signal, zero interpretability; improvement must come from behavioral engineering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UserID — user identity must be reconstructed; a core design decision with direct metric impact</a:t>
            </a:r>
          </a:p>
          <a:p>
            <a:pPr marL="0" lvl="0" indent="0" algn="l">
              <a:lnSpc>
                <a:spcPts val="3249"/>
              </a:lnSpc>
              <a:spcBef>
                <a:spcPct val="0"/>
              </a:spcBef>
            </a:pPr>
            <a:endParaRPr lang="en-US" sz="2499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100216" y="3423535"/>
          <a:ext cx="3790666" cy="1938377"/>
        </p:xfrm>
        <a:graphic>
          <a:graphicData uri="http://schemas.openxmlformats.org/drawingml/2006/table">
            <a:tbl>
              <a:tblPr/>
              <a:tblGrid>
                <a:gridCol w="189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5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6496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37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Legitimate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37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96.5%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81"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spc="-137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Fraud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99" u="none" strike="noStrike" spc="-137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875024" y="255022"/>
            <a:ext cx="16954500" cy="2686050"/>
            <a:chOff x="0" y="0"/>
            <a:chExt cx="4987154" cy="790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5257439" y="127511"/>
            <a:ext cx="2883758" cy="3162941"/>
            <a:chOff x="0" y="0"/>
            <a:chExt cx="3414467" cy="3745030"/>
          </a:xfrm>
        </p:grpSpPr>
        <p:sp>
          <p:nvSpPr>
            <p:cNvPr id="8" name="Freeform 8"/>
            <p:cNvSpPr/>
            <p:nvPr/>
          </p:nvSpPr>
          <p:spPr>
            <a:xfrm>
              <a:off x="54483" y="50038"/>
              <a:ext cx="3305374" cy="3645589"/>
            </a:xfrm>
            <a:custGeom>
              <a:avLst/>
              <a:gdLst/>
              <a:ahLst/>
              <a:cxnLst/>
              <a:rect l="l" t="t" r="r" b="b"/>
              <a:pathLst>
                <a:path w="3305374" h="3645589">
                  <a:moveTo>
                    <a:pt x="3217744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17616" y="0"/>
                  </a:lnTo>
                  <a:cubicBezTo>
                    <a:pt x="3266004" y="0"/>
                    <a:pt x="3305374" y="39243"/>
                    <a:pt x="3305374" y="87757"/>
                  </a:cubicBezTo>
                  <a:lnTo>
                    <a:pt x="3305374" y="3557832"/>
                  </a:lnTo>
                  <a:cubicBezTo>
                    <a:pt x="3305374" y="3606219"/>
                    <a:pt x="3266131" y="3645589"/>
                    <a:pt x="3217616" y="3645589"/>
                  </a:cubicBezTo>
                  <a:close/>
                </a:path>
              </a:pathLst>
            </a:custGeom>
            <a:blipFill>
              <a:blip r:embed="rId2"/>
              <a:stretch>
                <a:fillRect l="-2403" t="-1372" r="-2495" b="-1449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3414340" cy="3744903"/>
            </a:xfrm>
            <a:custGeom>
              <a:avLst/>
              <a:gdLst/>
              <a:ahLst/>
              <a:cxnLst/>
              <a:rect l="l" t="t" r="r" b="b"/>
              <a:pathLst>
                <a:path w="3414340" h="3744903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22773" y="3744903"/>
                  </a:lnTo>
                  <a:cubicBezTo>
                    <a:pt x="3373319" y="3744903"/>
                    <a:pt x="3414340" y="3703882"/>
                    <a:pt x="3414340" y="3653336"/>
                  </a:cubicBezTo>
                  <a:lnTo>
                    <a:pt x="3414340" y="91567"/>
                  </a:lnTo>
                  <a:cubicBezTo>
                    <a:pt x="3414340" y="41021"/>
                    <a:pt x="3373319" y="0"/>
                    <a:pt x="3322773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572584" y="331724"/>
                  </a:moveTo>
                  <a:lnTo>
                    <a:pt x="3231714" y="331724"/>
                  </a:lnTo>
                  <a:cubicBezTo>
                    <a:pt x="3282260" y="331724"/>
                    <a:pt x="3323281" y="372745"/>
                    <a:pt x="3323281" y="423291"/>
                  </a:cubicBezTo>
                  <a:lnTo>
                    <a:pt x="3323281" y="3562277"/>
                  </a:lnTo>
                  <a:cubicBezTo>
                    <a:pt x="3323281" y="3612823"/>
                    <a:pt x="3282260" y="3653844"/>
                    <a:pt x="3231714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275531" y="91186"/>
                  </a:lnTo>
                  <a:cubicBezTo>
                    <a:pt x="2301566" y="91186"/>
                    <a:pt x="2326458" y="102235"/>
                    <a:pt x="2343857" y="121666"/>
                  </a:cubicBezTo>
                  <a:lnTo>
                    <a:pt x="2504512" y="301244"/>
                  </a:lnTo>
                  <a:cubicBezTo>
                    <a:pt x="2521911" y="320675"/>
                    <a:pt x="2546676" y="331724"/>
                    <a:pt x="2572838" y="331724"/>
                  </a:cubicBezTo>
                  <a:lnTo>
                    <a:pt x="2572584" y="331724"/>
                  </a:lnTo>
                  <a:close/>
                </a:path>
              </a:pathLst>
            </a:custGeom>
            <a:solidFill>
              <a:srgbClr val="2A354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796321" y="937355"/>
            <a:ext cx="1043746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Class Imbalance &amp; 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0653" y="3485618"/>
            <a:ext cx="3291780" cy="90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2"/>
              </a:lnSpc>
              <a:spcBef>
                <a:spcPct val="0"/>
              </a:spcBef>
            </a:pPr>
            <a:r>
              <a:rPr lang="en-US" sz="3462" b="1" u="sng" strike="noStrike" spc="-190">
                <a:solidFill>
                  <a:srgbClr val="38B6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Class Imbalance </a:t>
            </a:r>
          </a:p>
          <a:p>
            <a:pPr marL="0" lvl="0" indent="0" algn="ctr">
              <a:lnSpc>
                <a:spcPts val="3462"/>
              </a:lnSpc>
              <a:spcBef>
                <a:spcPct val="0"/>
              </a:spcBef>
            </a:pPr>
            <a:endParaRPr lang="en-US" sz="3462" b="1" u="sng" strike="noStrike" spc="-190">
              <a:solidFill>
                <a:srgbClr val="38B6FF"/>
              </a:solidFill>
              <a:latin typeface="Work Sans Semi-Bold"/>
              <a:ea typeface="Work Sans Semi-Bold"/>
              <a:cs typeface="Work Sans Semi-Bold"/>
              <a:sym typeface="Work Sans Semi-Bold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10904089" y="4392724"/>
          <a:ext cx="7125973" cy="5530503"/>
        </p:xfrm>
        <a:graphic>
          <a:graphicData uri="http://schemas.openxmlformats.org/drawingml/2006/table">
            <a:tbl>
              <a:tblPr/>
              <a:tblGrid>
                <a:gridCol w="2413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970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Source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Kaggle IEEE-CIS / Vesta Corporation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13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590,540 transactions · ~6 months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970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434 raw + 23 engineered = 457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3133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Split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80% train / 20% val — time-based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4832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ROC AUC (official) + PR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3"/>
          <p:cNvSpPr txBox="1"/>
          <p:nvPr/>
        </p:nvSpPr>
        <p:spPr>
          <a:xfrm>
            <a:off x="10904089" y="3485618"/>
            <a:ext cx="1504950" cy="46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2"/>
              </a:lnSpc>
              <a:spcBef>
                <a:spcPct val="0"/>
              </a:spcBef>
            </a:pPr>
            <a:r>
              <a:rPr lang="en-US" sz="3462" b="1" u="sng" spc="-190">
                <a:solidFill>
                  <a:srgbClr val="02A8E7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Dataset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15688" y="6163719"/>
            <a:ext cx="9677026" cy="368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 u="none" strike="noStrike" spc="-137">
                <a:solidFill>
                  <a:srgbClr val="58A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ROC AUC</a:t>
            </a:r>
            <a:r>
              <a:rPr lang="en-US" sz="2499" u="none" strike="noStrike" spc="-137">
                <a:solidFill>
                  <a:srgbClr val="58A6FF"/>
                </a:solidFill>
                <a:latin typeface="Work Sans"/>
                <a:ea typeface="Work Sans"/>
                <a:cs typeface="Work Sans"/>
                <a:sym typeface="Work Sans"/>
              </a:rPr>
              <a:t> — Kaggle's official metric.</a:t>
            </a: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Ranks fraud above legitimate across all thresholds.</a:t>
            </a:r>
          </a:p>
          <a:p>
            <a:pPr algn="l">
              <a:lnSpc>
                <a:spcPts val="3249"/>
              </a:lnSpc>
            </a:pPr>
            <a:endParaRPr lang="en-US" sz="2499" u="none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 u="none" strike="noStrike" spc="-137">
                <a:solidFill>
                  <a:srgbClr val="D9D9D9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 AUC</a:t>
            </a: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— with 3.5% fraud, high ROC AUC can still miss most fraud cases. PR AUC exposes this.</a:t>
            </a:r>
          </a:p>
          <a:p>
            <a:pPr algn="l">
              <a:lnSpc>
                <a:spcPts val="3249"/>
              </a:lnSpc>
            </a:pPr>
            <a:endParaRPr lang="en-US" sz="2499" u="none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Accuracy  — </a:t>
            </a: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is not an appropriate metric under severe class imbalance (a model predicting "legitimate" for every transaction scores 96.5% while catching zero fraud).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0653" y="5537468"/>
            <a:ext cx="1450925" cy="46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2"/>
              </a:lnSpc>
              <a:spcBef>
                <a:spcPct val="0"/>
              </a:spcBef>
            </a:pPr>
            <a:r>
              <a:rPr lang="en-US" sz="3462" b="1" u="sng" spc="-190">
                <a:solidFill>
                  <a:srgbClr val="38B6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095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216716" y="6612531"/>
            <a:ext cx="4626914" cy="3439052"/>
          </a:xfrm>
          <a:custGeom>
            <a:avLst/>
            <a:gdLst/>
            <a:ahLst/>
            <a:cxnLst/>
            <a:rect l="l" t="t" r="r" b="b"/>
            <a:pathLst>
              <a:path w="4626914" h="3439052">
                <a:moveTo>
                  <a:pt x="0" y="0"/>
                </a:moveTo>
                <a:lnTo>
                  <a:pt x="4626915" y="0"/>
                </a:lnTo>
                <a:lnTo>
                  <a:pt x="4626915" y="3439052"/>
                </a:lnTo>
                <a:lnTo>
                  <a:pt x="0" y="343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66750" y="3300664"/>
            <a:ext cx="12857924" cy="409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Rejected Techniques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❌</a:t>
            </a: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SMOTE 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(generates synthetic fraud samples by interpolating between real ones )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Synthetic patterns may not reflect real fraud, degrades model on actual data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❌</a:t>
            </a: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Undersampling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Discards 80%+ of real legitimate transactions to balance classes — massive, unacceptable information loss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02A8E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Chosen Approach - Native Class Weights in Each Model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✅ No synthetic data, no data loss, all real transactions preserved.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✅ Each model natively penalizes missed fraud more than false alarms.</a:t>
            </a:r>
          </a:p>
        </p:txBody>
      </p:sp>
      <p:sp>
        <p:nvSpPr>
          <p:cNvPr id="6" name="Freeform 6"/>
          <p:cNvSpPr/>
          <p:nvPr/>
        </p:nvSpPr>
        <p:spPr>
          <a:xfrm>
            <a:off x="666750" y="8195179"/>
            <a:ext cx="11473187" cy="1440911"/>
          </a:xfrm>
          <a:custGeom>
            <a:avLst/>
            <a:gdLst/>
            <a:ahLst/>
            <a:cxnLst/>
            <a:rect l="l" t="t" r="r" b="b"/>
            <a:pathLst>
              <a:path w="11473187" h="1440911">
                <a:moveTo>
                  <a:pt x="0" y="0"/>
                </a:moveTo>
                <a:lnTo>
                  <a:pt x="11473187" y="0"/>
                </a:lnTo>
                <a:lnTo>
                  <a:pt x="11473187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60" b="-76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82489" y="3329239"/>
            <a:ext cx="2638761" cy="2304384"/>
          </a:xfrm>
          <a:custGeom>
            <a:avLst/>
            <a:gdLst/>
            <a:ahLst/>
            <a:cxnLst/>
            <a:rect l="l" t="t" r="r" b="b"/>
            <a:pathLst>
              <a:path w="2638761" h="2304384">
                <a:moveTo>
                  <a:pt x="0" y="0"/>
                </a:moveTo>
                <a:lnTo>
                  <a:pt x="2638761" y="0"/>
                </a:lnTo>
                <a:lnTo>
                  <a:pt x="2638761" y="2304384"/>
                </a:lnTo>
                <a:lnTo>
                  <a:pt x="0" y="2304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36974" y="711200"/>
            <a:ext cx="1623060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Handling Class Imbalance - chosen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67562" y="534422"/>
            <a:ext cx="1920533" cy="2065562"/>
            <a:chOff x="0" y="0"/>
            <a:chExt cx="3482081" cy="3745030"/>
          </a:xfrm>
        </p:grpSpPr>
        <p:sp>
          <p:nvSpPr>
            <p:cNvPr id="3" name="Freeform 3"/>
            <p:cNvSpPr/>
            <p:nvPr/>
          </p:nvSpPr>
          <p:spPr>
            <a:xfrm>
              <a:off x="54483" y="50038"/>
              <a:ext cx="3372988" cy="3645589"/>
            </a:xfrm>
            <a:custGeom>
              <a:avLst/>
              <a:gdLst/>
              <a:ahLst/>
              <a:cxnLst/>
              <a:rect l="l" t="t" r="r" b="b"/>
              <a:pathLst>
                <a:path w="3372988" h="3645589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t="-12" b="-12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3481954" cy="3744903"/>
            </a:xfrm>
            <a:custGeom>
              <a:avLst/>
              <a:gdLst/>
              <a:ahLst/>
              <a:cxnLst/>
              <a:rect l="l" t="t" r="r" b="b"/>
              <a:pathLst>
                <a:path w="3481954" h="3744903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2A3541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014309" y="3349196"/>
            <a:ext cx="7244991" cy="2831631"/>
          </a:xfrm>
          <a:custGeom>
            <a:avLst/>
            <a:gdLst/>
            <a:ahLst/>
            <a:cxnLst/>
            <a:rect l="l" t="t" r="r" b="b"/>
            <a:pathLst>
              <a:path w="7244991" h="2831631">
                <a:moveTo>
                  <a:pt x="0" y="0"/>
                </a:moveTo>
                <a:lnTo>
                  <a:pt x="7244991" y="0"/>
                </a:lnTo>
                <a:lnTo>
                  <a:pt x="7244991" y="2831630"/>
                </a:lnTo>
                <a:lnTo>
                  <a:pt x="0" y="2831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2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14309" y="6479220"/>
            <a:ext cx="7244991" cy="3381810"/>
          </a:xfrm>
          <a:custGeom>
            <a:avLst/>
            <a:gdLst/>
            <a:ahLst/>
            <a:cxnLst/>
            <a:rect l="l" t="t" r="r" b="b"/>
            <a:pathLst>
              <a:path w="7244991" h="3381810">
                <a:moveTo>
                  <a:pt x="0" y="0"/>
                </a:moveTo>
                <a:lnTo>
                  <a:pt x="7244991" y="0"/>
                </a:lnTo>
                <a:lnTo>
                  <a:pt x="7244991" y="3381810"/>
                </a:lnTo>
                <a:lnTo>
                  <a:pt x="0" y="3381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621" b="-262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61724" y="230298"/>
            <a:ext cx="16954500" cy="2686050"/>
            <a:chOff x="0" y="0"/>
            <a:chExt cx="4987154" cy="790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875024" y="255022"/>
            <a:ext cx="16954500" cy="2686050"/>
            <a:chOff x="0" y="0"/>
            <a:chExt cx="4987154" cy="790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875024" y="230298"/>
            <a:ext cx="16954500" cy="2686050"/>
            <a:chOff x="0" y="0"/>
            <a:chExt cx="4987154" cy="790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149386" y="998272"/>
            <a:ext cx="2806928" cy="1942799"/>
          </a:xfrm>
          <a:custGeom>
            <a:avLst/>
            <a:gdLst/>
            <a:ahLst/>
            <a:cxnLst/>
            <a:rect l="l" t="t" r="r" b="b"/>
            <a:pathLst>
              <a:path w="2806928" h="1942799">
                <a:moveTo>
                  <a:pt x="0" y="0"/>
                </a:moveTo>
                <a:lnTo>
                  <a:pt x="2806928" y="0"/>
                </a:lnTo>
                <a:lnTo>
                  <a:pt x="2806928" y="1942800"/>
                </a:lnTo>
                <a:lnTo>
                  <a:pt x="0" y="1942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7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9504" y="3397060"/>
            <a:ext cx="9009020" cy="612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Fraud rate </a:t>
            </a:r>
            <a:r>
              <a:rPr lang="en-US" sz="2586" b="1" spc="-14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peaks at night </a:t>
            </a: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hours 5–9 AM (~3 × average)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Legitimate users inactive — fraudsters exploit low-monitoring windows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b="1" spc="-14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Mobile</a:t>
            </a: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fraud rate: 10.17% (×3 average)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Fraudsters </a:t>
            </a:r>
            <a:r>
              <a:rPr lang="en-US" sz="2586" b="1" spc="-14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use card immediately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New recipient email: fraud lift ×1.85 ← strongest signal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New device type: fraud lift ×1.66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All web transactions arrive without device fingerprint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Fraudster uses stolen card, redirects goods to own address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Lift = group fraud rate / overall fraud rate (3.5%)</a:t>
            </a:r>
          </a:p>
          <a:p>
            <a:pPr marL="558330" lvl="1" indent="-279165" algn="l">
              <a:lnSpc>
                <a:spcPts val="3465"/>
              </a:lnSpc>
              <a:buFont typeface="Arial"/>
              <a:buChar char="•"/>
            </a:pPr>
            <a:r>
              <a:rPr lang="en-US" sz="2586" b="1" spc="-14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UID Grouping</a:t>
            </a:r>
            <a:r>
              <a:rPr lang="en-US" sz="2586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: {card1 + addr1} cleanly isolates individual cards</a:t>
            </a:r>
          </a:p>
          <a:p>
            <a:pPr algn="l">
              <a:lnSpc>
                <a:spcPts val="3465"/>
              </a:lnSpc>
            </a:pPr>
            <a:endParaRPr lang="en-US" sz="2586" spc="-142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018574" y="1131622"/>
            <a:ext cx="89599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999" b="1" u="none" strike="noStrike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EDA — Key Discoveries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30298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75804" y="1246459"/>
            <a:ext cx="2839729" cy="1669889"/>
          </a:xfrm>
          <a:custGeom>
            <a:avLst/>
            <a:gdLst/>
            <a:ahLst/>
            <a:cxnLst/>
            <a:rect l="l" t="t" r="r" b="b"/>
            <a:pathLst>
              <a:path w="2839729" h="1669889">
                <a:moveTo>
                  <a:pt x="0" y="0"/>
                </a:moveTo>
                <a:lnTo>
                  <a:pt x="2839729" y="0"/>
                </a:lnTo>
                <a:lnTo>
                  <a:pt x="2839729" y="1669889"/>
                </a:lnTo>
                <a:lnTo>
                  <a:pt x="0" y="16698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513752"/>
            <a:ext cx="16954500" cy="181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UniqueID</a:t>
            </a:r>
          </a:p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 Reconstructing User Identity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8476" y="3564488"/>
            <a:ext cx="8169883" cy="573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The dataset has no UserID — identity must be reconstructed.</a:t>
            </a:r>
          </a:p>
          <a:p>
            <a:pPr algn="l">
              <a:lnSpc>
                <a:spcPts val="3249"/>
              </a:lnSpc>
            </a:pPr>
            <a:endParaRPr lang="en-US" sz="2499" b="1" spc="-137">
              <a:solidFill>
                <a:srgbClr val="38B6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UID = card1 + addr1</a:t>
            </a:r>
            <a:r>
              <a:rPr lang="en-US" sz="2499" spc="-137">
                <a:solidFill>
                  <a:srgbClr val="38B6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card1: hashed card number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addr1: billing zip code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UID = [card1 + addr1] cleanly isolates individual cards 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Why not D1?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(used by many Kaggle solutions)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D1 drifts over time — it shifts as cards age, fragmenting groups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Adding D1 multiplies group count, leaving most groups with a single transaction (no history to aggregate)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53440" y="3564488"/>
            <a:ext cx="7990119" cy="61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UID is the foundation for all engineered features: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Aggregation features - 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transaction history per card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Behavioral fingerprint -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spending patterns &amp; anomalies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Product/service profile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- what this card typically buys 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UID was confirmed by analysis: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91.87% of UID groups (Legitimate cards) - zero fraud. Legitimate cards active for months and have many transactions per card </a:t>
            </a:r>
          </a:p>
          <a:p>
            <a:pPr algn="l">
              <a:lnSpc>
                <a:spcPts val="3249"/>
              </a:lnSpc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8.13% of UID groups (Fraud cards) - contain at least one fraud transaction. Fraud cards are blocked quickly → few transactions per card 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211907" y="761465"/>
            <a:ext cx="2640243" cy="2134135"/>
          </a:xfrm>
          <a:custGeom>
            <a:avLst/>
            <a:gdLst/>
            <a:ahLst/>
            <a:cxnLst/>
            <a:rect l="l" t="t" r="r" b="b"/>
            <a:pathLst>
              <a:path w="2640243" h="2134135">
                <a:moveTo>
                  <a:pt x="0" y="0"/>
                </a:moveTo>
                <a:lnTo>
                  <a:pt x="2640244" y="0"/>
                </a:lnTo>
                <a:lnTo>
                  <a:pt x="2640244" y="2134135"/>
                </a:lnTo>
                <a:lnTo>
                  <a:pt x="0" y="2134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66" b="-536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75024" y="711200"/>
            <a:ext cx="16954500" cy="167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Feature Engineering </a:t>
            </a:r>
          </a:p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6000" b="1" spc="-330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(in Top 30)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8324" y="3230991"/>
            <a:ext cx="8027439" cy="491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Aggregation Features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(transaction history per card)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tx_amt_mean/std/min/max: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inconsistent amounts → card testing or abuse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tx_amt_ratio: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current amount &gt;&gt; card's typical → anomaly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time_since_last_tx: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long silence then burst → dormant card activated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delta_amt: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large jump between consecutive transactions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tx_count / tx_count_last_30d: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sudden high-volume activity → card just compromised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23524" y="3138443"/>
            <a:ext cx="7841158" cy="450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b="1" u="none" strike="noStrike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Behavioral Fingerprint </a:t>
            </a: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(deviation from card's personal pattern)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hour_vs_typical:</a:t>
            </a:r>
          </a:p>
          <a:p>
            <a:pPr marL="1079499" lvl="2" indent="-359833" algn="l">
              <a:lnSpc>
                <a:spcPts val="32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transaction at unusual hour for this specific card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uid_time_entropy:</a:t>
            </a:r>
          </a:p>
          <a:p>
            <a:pPr marL="1079499" lvl="2" indent="-359833" algn="l">
              <a:lnSpc>
                <a:spcPts val="32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sudden behavioral randomness → routine broken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amt_vs_personal_median:</a:t>
            </a:r>
          </a:p>
          <a:p>
            <a:pPr marL="1079499" lvl="2" indent="-359833" algn="l">
              <a:lnSpc>
                <a:spcPts val="32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amount far above this card's personal norm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amt_z_score:</a:t>
            </a:r>
          </a:p>
          <a:p>
            <a:pPr marL="1079499" lvl="2" indent="-359833" algn="l">
              <a:lnSpc>
                <a:spcPts val="32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statistically extreme amount for this card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47123" y="8250193"/>
            <a:ext cx="7817559" cy="1635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9"/>
              </a:lnSpc>
              <a:spcBef>
                <a:spcPct val="0"/>
              </a:spcBef>
            </a:pPr>
            <a:r>
              <a:rPr lang="en-US" sz="2507" b="1" u="none" strike="noStrike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Product Profile </a:t>
            </a:r>
            <a:r>
              <a:rPr lang="en-US" sz="2507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(purchase pattern per card)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i="1" u="none" strike="noStrike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is_new_product:</a:t>
            </a:r>
          </a:p>
          <a:p>
            <a:pPr marL="1079499" lvl="2" indent="-359833" algn="l">
              <a:lnSpc>
                <a:spcPts val="3249"/>
              </a:lnSpc>
              <a:spcBef>
                <a:spcPct val="0"/>
              </a:spcBef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fraudster buys different product types than the legitimate card owner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2651" y="8564562"/>
            <a:ext cx="8631349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b="1" spc="-137">
                <a:solidFill>
                  <a:srgbClr val="FF751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No-Leakage Architecture </a:t>
            </a:r>
          </a:p>
          <a:p>
            <a:pPr marL="539753" lvl="1" indent="-269876" algn="l">
              <a:lnSpc>
                <a:spcPts val="2500"/>
              </a:lnSpc>
              <a:buFont typeface="Arial"/>
              <a:buChar char="•"/>
            </a:pPr>
            <a:r>
              <a:rPr lang="en-US" sz="2500" b="1" spc="-137">
                <a:solidFill>
                  <a:srgbClr val="FF751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Production-Ready Design </a:t>
            </a:r>
          </a:p>
          <a:p>
            <a:pPr marL="539753" lvl="1" indent="-269876" algn="l">
              <a:lnSpc>
                <a:spcPts val="3250"/>
              </a:lnSpc>
              <a:buFont typeface="Arial"/>
              <a:buChar char="•"/>
            </a:pPr>
            <a:r>
              <a:rPr lang="en-US" sz="2500" b="1" spc="-137">
                <a:solidFill>
                  <a:srgbClr val="FF751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Every feature uses strictly </a:t>
            </a:r>
            <a:r>
              <a:rPr lang="en-US" sz="2500" b="1" u="sng" spc="-137">
                <a:solidFill>
                  <a:srgbClr val="FF751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prior </a:t>
            </a:r>
            <a:r>
              <a:rPr lang="en-US" sz="2500" b="1" spc="-137">
                <a:solidFill>
                  <a:srgbClr val="FF751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transactions only, the current transaction is never included.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86886" y="814933"/>
            <a:ext cx="2349464" cy="2312754"/>
          </a:xfrm>
          <a:custGeom>
            <a:avLst/>
            <a:gdLst/>
            <a:ahLst/>
            <a:cxnLst/>
            <a:rect l="l" t="t" r="r" b="b"/>
            <a:pathLst>
              <a:path w="2349464" h="2312754">
                <a:moveTo>
                  <a:pt x="0" y="0"/>
                </a:moveTo>
                <a:lnTo>
                  <a:pt x="2349464" y="0"/>
                </a:lnTo>
                <a:lnTo>
                  <a:pt x="2349464" y="2312753"/>
                </a:lnTo>
                <a:lnTo>
                  <a:pt x="0" y="2312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92628" y="948283"/>
            <a:ext cx="10474672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Time-Based Train/Val Split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5135" y="3527425"/>
            <a:ext cx="14880956" cy="573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The dataset spans ~6 months of real transactions. </a:t>
            </a: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02A8E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Split respects temporal order strictly — no shuffle.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Train (80%): months 1–5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Validation (20%): month 6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u="sng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Why not random split?</a:t>
            </a:r>
          </a:p>
          <a:p>
            <a:pPr algn="l">
              <a:lnSpc>
                <a:spcPts val="3249"/>
              </a:lnSpc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Random split: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future transactions </a:t>
            </a:r>
            <a:r>
              <a:rPr lang="en-US" sz="2499" u="sng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leak 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into train → inflated metrics → overoptimistic estimate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u="sng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Time-based split : train = past only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val = future only → unbiased estimate of production performance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u="sng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Why one split — not cross-validation?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data drift detected over 6 months — a single boundary is valid and mirrors production exactly.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362897" y="7347859"/>
            <a:ext cx="4824812" cy="2828057"/>
          </a:xfrm>
          <a:custGeom>
            <a:avLst/>
            <a:gdLst/>
            <a:ahLst/>
            <a:cxnLst/>
            <a:rect l="l" t="t" r="r" b="b"/>
            <a:pathLst>
              <a:path w="4824812" h="2828057">
                <a:moveTo>
                  <a:pt x="0" y="0"/>
                </a:moveTo>
                <a:lnTo>
                  <a:pt x="4824811" y="0"/>
                </a:lnTo>
                <a:lnTo>
                  <a:pt x="4824811" y="2828057"/>
                </a:lnTo>
                <a:lnTo>
                  <a:pt x="0" y="28280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6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68936" y="1154113"/>
            <a:ext cx="1436667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Hyperparameter Tuning with Optuna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3094" y="3318991"/>
            <a:ext cx="9664601" cy="491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02A8E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Why Optuna?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Bayesian optimization - learns from every completed trial, focuses search on promising parameter regions. 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Pruning kills unpromising trials early → finds near-optimal params in 30–100 trials.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Why not alternatives?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Grid Search: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~60K combinations → computationally impossible with CPU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i="1" spc="-137">
                <a:solidFill>
                  <a:srgbClr val="FFFFFF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Random Search: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learning between trials → does </a:t>
            </a:r>
            <a:r>
              <a:rPr lang="en-US" sz="2499" u="sng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not 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improve over time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831716" y="3318991"/>
            <a:ext cx="7083773" cy="327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b="1" strike="noStrike" spc="-137">
                <a:solidFill>
                  <a:srgbClr val="02A8E7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Quality Levels of Optuna (tuning depth control):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low — 30% data, ~0.7h (for a ML-model)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med — 50% data, ~2–3h (for a ML-model)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high — 100% data, ~18h (for a ML-model)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endParaRPr lang="en-US" sz="2499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Tuning uses a data fraction to find parameters. 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Final training always uses the full dataset with the found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43361" y="6240357"/>
            <a:ext cx="10296546" cy="3899817"/>
          </a:xfrm>
          <a:custGeom>
            <a:avLst/>
            <a:gdLst/>
            <a:ahLst/>
            <a:cxnLst/>
            <a:rect l="l" t="t" r="r" b="b"/>
            <a:pathLst>
              <a:path w="10296546" h="3899817">
                <a:moveTo>
                  <a:pt x="0" y="0"/>
                </a:moveTo>
                <a:lnTo>
                  <a:pt x="10296546" y="0"/>
                </a:lnTo>
                <a:lnTo>
                  <a:pt x="10296546" y="3899816"/>
                </a:lnTo>
                <a:lnTo>
                  <a:pt x="0" y="389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5033" y="6767503"/>
            <a:ext cx="2228501" cy="157748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37444" y="3424881"/>
            <a:ext cx="10539066" cy="245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b="1" strike="noStrike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Each model tuned independently - 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b="1" strike="noStrike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different hyperparameters, different sensitivities</a:t>
            </a: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LightGBM — med_high (75 trials, 75% data, ~10h)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XGBoost — med (50 trials, 50% data, ~3h)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CatBoost excluded — Optuna killed after ~10h at ~50% completion</a:t>
            </a:r>
          </a:p>
          <a:p>
            <a:pPr marL="539749" lvl="1" indent="-269875" algn="l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Final training always uses the full dataset with the found parameters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168936" y="1154113"/>
            <a:ext cx="1436667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Hyperparameter Tuning with Optuna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37444" y="6441132"/>
            <a:ext cx="3223004" cy="3561897"/>
            <a:chOff x="0" y="0"/>
            <a:chExt cx="1935901" cy="21394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35903" cy="2139471"/>
            </a:xfrm>
            <a:custGeom>
              <a:avLst/>
              <a:gdLst/>
              <a:ahLst/>
              <a:cxnLst/>
              <a:rect l="l" t="t" r="r" b="b"/>
              <a:pathLst>
                <a:path w="1935903" h="2139471">
                  <a:moveTo>
                    <a:pt x="144846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961798"/>
                  </a:lnTo>
                  <a:cubicBezTo>
                    <a:pt x="0" y="2059924"/>
                    <a:pt x="79547" y="2139471"/>
                    <a:pt x="177673" y="2139471"/>
                  </a:cubicBezTo>
                  <a:lnTo>
                    <a:pt x="1758230" y="2139471"/>
                  </a:lnTo>
                  <a:cubicBezTo>
                    <a:pt x="1856356" y="2139471"/>
                    <a:pt x="1935903" y="2059924"/>
                    <a:pt x="1935903" y="1961798"/>
                  </a:cubicBezTo>
                  <a:lnTo>
                    <a:pt x="1935903" y="523958"/>
                  </a:lnTo>
                  <a:cubicBezTo>
                    <a:pt x="1935903" y="480251"/>
                    <a:pt x="1919793" y="438079"/>
                    <a:pt x="1890654" y="405503"/>
                  </a:cubicBezTo>
                  <a:lnTo>
                    <a:pt x="1580877" y="59214"/>
                  </a:lnTo>
                  <a:cubicBezTo>
                    <a:pt x="1547173" y="21536"/>
                    <a:pt x="1499013" y="0"/>
                    <a:pt x="1448460" y="0"/>
                  </a:cubicBezTo>
                  <a:close/>
                </a:path>
              </a:pathLst>
            </a:custGeom>
            <a:blipFill>
              <a:blip r:embed="rId4"/>
              <a:stretch>
                <a:fillRect t="-130" b="-13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5024" y="209550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42152" y="3838676"/>
          <a:ext cx="7315200" cy="5419624"/>
        </p:xfrm>
        <a:graphic>
          <a:graphicData uri="http://schemas.openxmlformats.org/drawingml/2006/table">
            <a:tbl>
              <a:tblPr/>
              <a:tblGrid>
                <a:gridCol w="2956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9958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ROC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PR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927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Baseline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(LightGBM, default, raw features)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0.9196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0.5804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8995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b="1" u="none" strike="noStrike">
                          <a:solidFill>
                            <a:srgbClr val="38B6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✅ LightGBM alone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2A8E7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0.9272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99" b="1" u="none" strike="noStrike">
                          <a:solidFill>
                            <a:srgbClr val="38B6FF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0.6039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8675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XGBoost alone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0.9226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0.5641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2722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Ensemble 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(LightGBM + XGBoost)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0.9264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0.5907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Freeform 5"/>
          <p:cNvSpPr/>
          <p:nvPr/>
        </p:nvSpPr>
        <p:spPr>
          <a:xfrm>
            <a:off x="16133532" y="8408581"/>
            <a:ext cx="1904388" cy="1560841"/>
          </a:xfrm>
          <a:custGeom>
            <a:avLst/>
            <a:gdLst/>
            <a:ahLst/>
            <a:cxnLst/>
            <a:rect l="l" t="t" r="r" b="b"/>
            <a:pathLst>
              <a:path w="1904388" h="1560841">
                <a:moveTo>
                  <a:pt x="0" y="0"/>
                </a:moveTo>
                <a:lnTo>
                  <a:pt x="1904388" y="0"/>
                </a:lnTo>
                <a:lnTo>
                  <a:pt x="1904388" y="1560841"/>
                </a:lnTo>
                <a:lnTo>
                  <a:pt x="0" y="15608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7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16636" y="1034247"/>
            <a:ext cx="11871275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Ensemble VS Solo GBM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152" y="9671264"/>
            <a:ext cx="1432733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  <a:spcBef>
                <a:spcPct val="0"/>
              </a:spcBef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How Ensemble was calculated: Weighted average — each model weighted by its validation </a:t>
            </a:r>
            <a:r>
              <a:rPr lang="en-US" sz="2499" spc="-137">
                <a:solidFill>
                  <a:srgbClr val="38B6FF"/>
                </a:solidFill>
                <a:latin typeface="Work Sans"/>
                <a:ea typeface="Work Sans"/>
                <a:cs typeface="Work Sans"/>
                <a:sym typeface="Work Sans"/>
              </a:rPr>
              <a:t>ROC AUC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152" y="3214281"/>
            <a:ext cx="124747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3000" b="1" spc="-165">
                <a:solidFill>
                  <a:srgbClr val="38B6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68108" y="3138081"/>
            <a:ext cx="8032470" cy="499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 spc="-164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Conclusions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XGBoost PR AUC (0.5641) is below the v0 baseline (0.5804) — weak fraud-class performance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 weighted ensemble with a weak component is worse than the best individual model alone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Note: CatBoost excluded - Optuna killed after ~10h at ~50% completion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Selected:</a:t>
            </a:r>
          </a:p>
          <a:p>
            <a:pPr algn="l">
              <a:lnSpc>
                <a:spcPts val="324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LightGBM </a:t>
            </a: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alone as the final production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90021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1122450" y="2934496"/>
            <a:ext cx="6357621" cy="2209004"/>
          </a:xfrm>
          <a:custGeom>
            <a:avLst/>
            <a:gdLst/>
            <a:ahLst/>
            <a:cxnLst/>
            <a:rect l="l" t="t" r="r" b="b"/>
            <a:pathLst>
              <a:path w="6357621" h="2209004">
                <a:moveTo>
                  <a:pt x="0" y="0"/>
                </a:moveTo>
                <a:lnTo>
                  <a:pt x="6357621" y="0"/>
                </a:lnTo>
                <a:lnTo>
                  <a:pt x="6357621" y="2209004"/>
                </a:lnTo>
                <a:lnTo>
                  <a:pt x="0" y="22090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6000"/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96382" y="1019965"/>
            <a:ext cx="1069523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Summary &amp; Kaggle Context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440" y="3421531"/>
            <a:ext cx="8814470" cy="655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EDA: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fraud patterns &amp; key discoveries</a:t>
            </a:r>
          </a:p>
          <a:p>
            <a:pPr marL="539749" lvl="1" indent="-269875" algn="l">
              <a:lnSpc>
                <a:spcPts val="3249"/>
              </a:lnSpc>
              <a:buFont typeface="Arial"/>
              <a:buChar char="•"/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UniqueID construction: 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UID = [card1 + addr1]</a:t>
            </a:r>
          </a:p>
          <a:p>
            <a:pPr algn="l">
              <a:lnSpc>
                <a:spcPts val="324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Feature Engineering 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(23 features) - each transaction enriched with historical data from prior transactions only → no leakage guarantee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aggregations 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behavioral fingerprint 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product profile</a:t>
            </a:r>
          </a:p>
          <a:p>
            <a:pPr algn="l">
              <a:lnSpc>
                <a:spcPts val="3249"/>
              </a:lnSpc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Time-Based Split</a:t>
            </a: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(80% train / 20% val):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shuffle 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leakage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169031" y="5469406"/>
            <a:ext cx="6645174" cy="450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Optuna Tuning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independent per model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different data coverage % for tuning</a:t>
            </a:r>
          </a:p>
          <a:p>
            <a:pPr algn="l">
              <a:lnSpc>
                <a:spcPts val="3249"/>
              </a:lnSpc>
            </a:pPr>
            <a:endParaRPr lang="en-US" sz="2499" u="none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Ensemble implementation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LightGBM + XGBoost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u="none" strike="noStrike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weighted average</a:t>
            </a:r>
          </a:p>
          <a:p>
            <a:pPr algn="l">
              <a:lnSpc>
                <a:spcPts val="3249"/>
              </a:lnSpc>
            </a:pPr>
            <a:endParaRPr lang="en-US" sz="2499" u="none" strike="noStrike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3249"/>
              </a:lnSpc>
              <a:buAutoNum type="arabicPeriod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Final selection: LightGBM: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ROC AUC = 0.9272 </a:t>
            </a:r>
          </a:p>
          <a:p>
            <a:pPr marL="1079499" lvl="2" indent="-359833" algn="l">
              <a:lnSpc>
                <a:spcPts val="3249"/>
              </a:lnSpc>
              <a:buFont typeface="Arial"/>
              <a:buChar char="⚬"/>
            </a:pPr>
            <a:r>
              <a:rPr lang="en-US" sz="2499" b="1" u="none" strike="noStrike" spc="-137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 AUC = 0.6039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80786" y="3629648"/>
          <a:ext cx="7315200" cy="364199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246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Tier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ROC 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DA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64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1st place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0.9459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07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Top 5% (~319 teams)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≥ 0.9230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034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Top 10% (~638 teams)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≥ 0.9150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666750" y="190021"/>
            <a:ext cx="16954500" cy="2686050"/>
            <a:chOff x="0" y="0"/>
            <a:chExt cx="4987154" cy="7901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288211" y="5149863"/>
            <a:ext cx="7748974" cy="4796014"/>
          </a:xfrm>
          <a:custGeom>
            <a:avLst/>
            <a:gdLst/>
            <a:ahLst/>
            <a:cxnLst/>
            <a:rect l="l" t="t" r="r" b="b"/>
            <a:pathLst>
              <a:path w="7748974" h="4796014">
                <a:moveTo>
                  <a:pt x="0" y="0"/>
                </a:moveTo>
                <a:lnTo>
                  <a:pt x="7748975" y="0"/>
                </a:lnTo>
                <a:lnTo>
                  <a:pt x="7748975" y="4796014"/>
                </a:lnTo>
                <a:lnTo>
                  <a:pt x="0" y="479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88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80786" y="3122956"/>
            <a:ext cx="5957292" cy="40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 b="1" u="none" strike="noStrike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Kaggle Leaderboard Context (6,381 teams)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0786" y="7595495"/>
            <a:ext cx="8343900" cy="2530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b="1" spc="-137">
                <a:solidFill>
                  <a:srgbClr val="38B6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My results’ category:</a:t>
            </a:r>
          </a:p>
          <a:p>
            <a:pPr algn="l">
              <a:lnSpc>
                <a:spcPts val="2499"/>
              </a:lnSpc>
            </a:pPr>
            <a:endParaRPr lang="en-US" sz="2499" b="1" spc="-137">
              <a:solidFill>
                <a:srgbClr val="38B6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Result (0.9272) exceeds the community-reported Top 5% threshold (≥ 0.9230). </a:t>
            </a:r>
          </a:p>
          <a:p>
            <a:pPr algn="l">
              <a:lnSpc>
                <a:spcPts val="2499"/>
              </a:lnSpc>
            </a:pPr>
            <a:endParaRPr lang="en-US" sz="2499" spc="-137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9749" lvl="1" indent="-269875" algn="l">
              <a:lnSpc>
                <a:spcPts val="2499"/>
              </a:lnSpc>
              <a:buFont typeface="Arial"/>
              <a:buChar char="•"/>
            </a:pPr>
            <a:r>
              <a:rPr lang="en-US" sz="2499" spc="-13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Direct comparison is approximate — different test sets — but the result is competitive with top-tier submissions.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96382" y="1019965"/>
            <a:ext cx="1069523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Summary &amp; Kaggle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90021"/>
            <a:ext cx="16954500" cy="2686050"/>
            <a:chOff x="0" y="0"/>
            <a:chExt cx="4987154" cy="790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156" cy="790100"/>
            </a:xfrm>
            <a:custGeom>
              <a:avLst/>
              <a:gdLst/>
              <a:ahLst/>
              <a:cxnLst/>
              <a:rect l="l" t="t" r="r" b="b"/>
              <a:pathLst>
                <a:path w="4987156" h="790100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103760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523476" y="888970"/>
            <a:ext cx="16954500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6999" b="1" spc="-38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Future Improvements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6750" y="3196156"/>
            <a:ext cx="16954500" cy="6847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306" lvl="1" indent="-265153" algn="l">
              <a:lnSpc>
                <a:spcPts val="3193"/>
              </a:lnSpc>
              <a:buFont typeface="Arial"/>
              <a:buChar char="•"/>
            </a:pPr>
            <a:r>
              <a:rPr lang="en-US" sz="2456" b="1" spc="-135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CatBoost with GPU</a:t>
            </a: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architecturally different from LightGBM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ordered boosting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native categorical encoding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strongest Ensemble candidate </a:t>
            </a:r>
          </a:p>
          <a:p>
            <a:pPr algn="l">
              <a:lnSpc>
                <a:spcPts val="3193"/>
              </a:lnSpc>
            </a:pPr>
            <a:endParaRPr lang="en-US" sz="2456" spc="-135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0306" lvl="1" indent="-265153" algn="l">
              <a:lnSpc>
                <a:spcPts val="3193"/>
              </a:lnSpc>
              <a:buFont typeface="Arial"/>
              <a:buChar char="•"/>
            </a:pPr>
            <a:r>
              <a:rPr lang="en-US" sz="2456" b="1" spc="-135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MLP (Neural Network) with GPU</a:t>
            </a: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learns non-linear boundaries fundamentally different from tree-based models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weakly correlated with LightGBM → genuine ensemble diversity</a:t>
            </a:r>
          </a:p>
          <a:p>
            <a:pPr marL="530306" lvl="1" indent="-265153" algn="l">
              <a:lnSpc>
                <a:spcPts val="3193"/>
              </a:lnSpc>
              <a:buFont typeface="Arial"/>
              <a:buChar char="•"/>
            </a:pPr>
            <a:endParaRPr lang="en-US" sz="2456" spc="-135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0306" lvl="1" indent="-265153" algn="l">
              <a:lnSpc>
                <a:spcPts val="3193"/>
              </a:lnSpc>
              <a:buFont typeface="Arial"/>
              <a:buChar char="•"/>
            </a:pPr>
            <a:r>
              <a:rPr lang="en-US" sz="2456" b="1" spc="-135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Isolation Forest as meta-feature</a:t>
            </a: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unsupervised anomaly score added as input to selected ML-model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captures structural unusualness independently of fraud label</a:t>
            </a:r>
          </a:p>
          <a:p>
            <a:pPr algn="l">
              <a:lnSpc>
                <a:spcPts val="3193"/>
              </a:lnSpc>
            </a:pPr>
            <a:endParaRPr lang="en-US" sz="2456" spc="-135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530306" lvl="1" indent="-265153" algn="l">
              <a:lnSpc>
                <a:spcPts val="3193"/>
              </a:lnSpc>
              <a:buFont typeface="Arial"/>
              <a:buChar char="•"/>
            </a:pPr>
            <a:r>
              <a:rPr lang="en-US" sz="2456" b="1" spc="-135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Target Encoding </a:t>
            </a:r>
          </a:p>
          <a:p>
            <a:pPr marL="1060611" lvl="2" indent="-353537" algn="l">
              <a:lnSpc>
                <a:spcPts val="3193"/>
              </a:lnSpc>
              <a:buFont typeface="Arial"/>
              <a:buChar char="⚬"/>
            </a:pPr>
            <a:r>
              <a:rPr lang="en-US" sz="2456" spc="-135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leave-one-out target encoding for card1, addr1, P_emaildomain </a:t>
            </a:r>
          </a:p>
          <a:p>
            <a:pPr algn="l">
              <a:lnSpc>
                <a:spcPts val="3193"/>
              </a:lnSpc>
            </a:pPr>
            <a:endParaRPr lang="en-US" sz="2456" spc="-135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769662" y="3234256"/>
            <a:ext cx="4148381" cy="2332484"/>
            <a:chOff x="0" y="0"/>
            <a:chExt cx="1066911" cy="5998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911" cy="599885"/>
            </a:xfrm>
            <a:custGeom>
              <a:avLst/>
              <a:gdLst/>
              <a:ahLst/>
              <a:cxnLst/>
              <a:rect l="l" t="t" r="r" b="b"/>
              <a:pathLst>
                <a:path w="1066911" h="599885">
                  <a:moveTo>
                    <a:pt x="74650" y="0"/>
                  </a:moveTo>
                  <a:lnTo>
                    <a:pt x="992261" y="0"/>
                  </a:lnTo>
                  <a:cubicBezTo>
                    <a:pt x="1012059" y="0"/>
                    <a:pt x="1031047" y="7865"/>
                    <a:pt x="1045046" y="21864"/>
                  </a:cubicBezTo>
                  <a:cubicBezTo>
                    <a:pt x="1059046" y="35864"/>
                    <a:pt x="1066911" y="54852"/>
                    <a:pt x="1066911" y="74650"/>
                  </a:cubicBezTo>
                  <a:lnTo>
                    <a:pt x="1066911" y="525235"/>
                  </a:lnTo>
                  <a:cubicBezTo>
                    <a:pt x="1066911" y="545034"/>
                    <a:pt x="1059046" y="564021"/>
                    <a:pt x="1045046" y="578021"/>
                  </a:cubicBezTo>
                  <a:cubicBezTo>
                    <a:pt x="1031047" y="592020"/>
                    <a:pt x="1012059" y="599885"/>
                    <a:pt x="992261" y="599885"/>
                  </a:cubicBezTo>
                  <a:lnTo>
                    <a:pt x="74650" y="599885"/>
                  </a:lnTo>
                  <a:cubicBezTo>
                    <a:pt x="54852" y="599885"/>
                    <a:pt x="35864" y="592020"/>
                    <a:pt x="21864" y="578021"/>
                  </a:cubicBezTo>
                  <a:cubicBezTo>
                    <a:pt x="7865" y="564021"/>
                    <a:pt x="0" y="545034"/>
                    <a:pt x="0" y="525235"/>
                  </a:cubicBezTo>
                  <a:lnTo>
                    <a:pt x="0" y="74650"/>
                  </a:lnTo>
                  <a:cubicBezTo>
                    <a:pt x="0" y="54852"/>
                    <a:pt x="7865" y="35864"/>
                    <a:pt x="21864" y="21864"/>
                  </a:cubicBezTo>
                  <a:cubicBezTo>
                    <a:pt x="35864" y="7865"/>
                    <a:pt x="54852" y="0"/>
                    <a:pt x="74650" y="0"/>
                  </a:cubicBezTo>
                  <a:close/>
                </a:path>
              </a:pathLst>
            </a:custGeom>
            <a:blipFill>
              <a:blip r:embed="rId2"/>
              <a:stretch>
                <a:fillRect l="-202" r="-20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32999" y="2276265"/>
            <a:ext cx="10622003" cy="5734470"/>
          </a:xfrm>
          <a:custGeom>
            <a:avLst/>
            <a:gdLst/>
            <a:ahLst/>
            <a:cxnLst/>
            <a:rect l="l" t="t" r="r" b="b"/>
            <a:pathLst>
              <a:path w="10622003" h="5734470">
                <a:moveTo>
                  <a:pt x="0" y="0"/>
                </a:moveTo>
                <a:lnTo>
                  <a:pt x="10622002" y="0"/>
                </a:lnTo>
                <a:lnTo>
                  <a:pt x="10622002" y="5734470"/>
                </a:lnTo>
                <a:lnTo>
                  <a:pt x="0" y="5734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1504</Words>
  <Application>Microsoft Office PowerPoint</Application>
  <PresentationFormat>Custom</PresentationFormat>
  <Paragraphs>242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Work Sans Bold</vt:lpstr>
      <vt:lpstr>Work Sans Semi-Bold</vt:lpstr>
      <vt:lpstr>Canva Sans</vt:lpstr>
      <vt:lpstr>Work Sans Italics</vt:lpstr>
      <vt:lpstr>Arial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Fraud Detection Project</dc:title>
  <dc:creator>Irena Shtelman Kravitz</dc:creator>
  <dc:description>Presentation - Fraud Detection Project</dc:description>
  <cp:lastModifiedBy>Irena Shtelman Kravitz</cp:lastModifiedBy>
  <cp:revision>1</cp:revision>
  <dcterms:created xsi:type="dcterms:W3CDTF">2006-08-16T00:00:00Z</dcterms:created>
  <dcterms:modified xsi:type="dcterms:W3CDTF">2026-03-06T21:21:22Z</dcterms:modified>
  <dc:identifier>DAHDEzWDdbk</dc:identifier>
</cp:coreProperties>
</file>