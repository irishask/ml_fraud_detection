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Canva Sans" panose="020B0604020202020204" charset="0"/>
      <p:regular r:id="rId17"/>
    </p:embeddedFont>
    <p:embeddedFont>
      <p:font typeface="Work Sans" pitchFamily="2" charset="0"/>
      <p:regular r:id="rId18"/>
      <p:bold r:id="rId19"/>
    </p:embeddedFont>
    <p:embeddedFont>
      <p:font typeface="Work Sans Bold" charset="0"/>
      <p:regular r:id="rId20"/>
    </p:embeddedFont>
    <p:embeddedFont>
      <p:font typeface="Work Sans Italics" panose="020B0604020202020204" charset="0"/>
      <p:regular r:id="rId21"/>
    </p:embeddedFont>
    <p:embeddedFont>
      <p:font typeface="Work Sans Semi-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5" d="100"/>
          <a:sy n="45" d="100"/>
        </p:scale>
        <p:origin x="54" y="6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hyperlink" Target="github:%20github.com/irishask/ML_Fraud_detection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587422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blipFill>
              <a:blip r:embed="rId2"/>
              <a:stretch>
                <a:fillRect l="-1095" t="-2114" r="-1222" b="-10100"/>
              </a:stretch>
            </a:blipFill>
          </p:spPr>
          <p:txBody>
            <a:bodyPr/>
            <a:lstStyle/>
            <a:p>
              <a:endParaRPr lang="en-I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0588791" y="4545897"/>
            <a:ext cx="7247369" cy="5190908"/>
            <a:chOff x="0" y="0"/>
            <a:chExt cx="1289737" cy="92377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289737" cy="923771"/>
            </a:xfrm>
            <a:custGeom>
              <a:avLst/>
              <a:gdLst/>
              <a:ahLst/>
              <a:cxnLst/>
              <a:rect l="l" t="t" r="r" b="b"/>
              <a:pathLst>
                <a:path w="1289737" h="923771">
                  <a:moveTo>
                    <a:pt x="42730" y="0"/>
                  </a:moveTo>
                  <a:lnTo>
                    <a:pt x="1247008" y="0"/>
                  </a:lnTo>
                  <a:cubicBezTo>
                    <a:pt x="1258340" y="0"/>
                    <a:pt x="1269209" y="4502"/>
                    <a:pt x="1277222" y="12515"/>
                  </a:cubicBezTo>
                  <a:cubicBezTo>
                    <a:pt x="1285235" y="20529"/>
                    <a:pt x="1289737" y="31397"/>
                    <a:pt x="1289737" y="42730"/>
                  </a:cubicBezTo>
                  <a:lnTo>
                    <a:pt x="1289737" y="881041"/>
                  </a:lnTo>
                  <a:cubicBezTo>
                    <a:pt x="1289737" y="892374"/>
                    <a:pt x="1285235" y="903242"/>
                    <a:pt x="1277222" y="911255"/>
                  </a:cubicBezTo>
                  <a:cubicBezTo>
                    <a:pt x="1269209" y="919269"/>
                    <a:pt x="1258340" y="923771"/>
                    <a:pt x="1247008" y="923771"/>
                  </a:cubicBezTo>
                  <a:lnTo>
                    <a:pt x="42730" y="923771"/>
                  </a:lnTo>
                  <a:cubicBezTo>
                    <a:pt x="31397" y="923771"/>
                    <a:pt x="20529" y="919269"/>
                    <a:pt x="12515" y="911255"/>
                  </a:cubicBezTo>
                  <a:cubicBezTo>
                    <a:pt x="4502" y="903242"/>
                    <a:pt x="0" y="892374"/>
                    <a:pt x="0" y="881041"/>
                  </a:cubicBezTo>
                  <a:lnTo>
                    <a:pt x="0" y="42730"/>
                  </a:lnTo>
                  <a:cubicBezTo>
                    <a:pt x="0" y="31397"/>
                    <a:pt x="4502" y="20529"/>
                    <a:pt x="12515" y="12515"/>
                  </a:cubicBezTo>
                  <a:cubicBezTo>
                    <a:pt x="20529" y="4502"/>
                    <a:pt x="31397" y="0"/>
                    <a:pt x="42730" y="0"/>
                  </a:cubicBezTo>
                  <a:close/>
                </a:path>
              </a:pathLst>
            </a:custGeom>
            <a:blipFill>
              <a:blip r:embed="rId3"/>
              <a:stretch>
                <a:fillRect l="-174" r="-174"/>
              </a:stretch>
            </a:blip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66750" y="7697701"/>
            <a:ext cx="8747254" cy="1668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5"/>
              </a:lnSpc>
            </a:pPr>
            <a:r>
              <a:rPr lang="en-US" sz="2550" b="1" spc="-140" dirty="0">
                <a:solidFill>
                  <a:srgbClr val="CFD8DC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Irena Shtelman Kravitz</a:t>
            </a:r>
          </a:p>
          <a:p>
            <a:pPr algn="l">
              <a:lnSpc>
                <a:spcPts val="3315"/>
              </a:lnSpc>
            </a:pPr>
            <a:r>
              <a:rPr lang="en-US" sz="2550" spc="-140" dirty="0">
                <a:solidFill>
                  <a:srgbClr val="CFD8DC"/>
                </a:solidFill>
                <a:latin typeface="Work Sans"/>
                <a:ea typeface="Work Sans"/>
                <a:cs typeface="Work Sans"/>
                <a:sym typeface="Work Sans"/>
              </a:rPr>
              <a:t>MSc. in Data Science student at HIT</a:t>
            </a:r>
          </a:p>
          <a:p>
            <a:pPr>
              <a:lnSpc>
                <a:spcPts val="3315"/>
              </a:lnSpc>
            </a:pPr>
            <a:r>
              <a:rPr lang="en-US" sz="2550" spc="-140" dirty="0">
                <a:solidFill>
                  <a:srgbClr val="CFD8DC"/>
                </a:solidFill>
                <a:latin typeface="Work Sans"/>
                <a:ea typeface="Work Sans"/>
                <a:cs typeface="Work Sans"/>
                <a:sym typeface="Work Sans"/>
              </a:rPr>
              <a:t>GitHub: </a:t>
            </a:r>
            <a:r>
              <a:rPr lang="en-US" sz="2550" spc="-140" dirty="0">
                <a:solidFill>
                  <a:schemeClr val="bg1"/>
                </a:solidFill>
                <a:latin typeface="Work Sans"/>
                <a:ea typeface="Work Sans"/>
                <a:cs typeface="Work Sans"/>
                <a:sym typeface="Work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</a:t>
            </a:r>
            <a:r>
              <a:rPr lang="en-US" sz="2550" spc="-140" dirty="0" err="1">
                <a:solidFill>
                  <a:schemeClr val="bg1"/>
                </a:solidFill>
                <a:latin typeface="Work Sans"/>
                <a:ea typeface="Work Sans"/>
                <a:cs typeface="Work Sans"/>
                <a:sym typeface="Work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irishask</a:t>
            </a:r>
            <a:r>
              <a:rPr lang="en-US" sz="2550" spc="-140" dirty="0">
                <a:solidFill>
                  <a:schemeClr val="bg1"/>
                </a:solidFill>
                <a:latin typeface="Work Sans"/>
                <a:ea typeface="Work Sans"/>
                <a:cs typeface="Work Sans"/>
                <a:sym typeface="Work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/ML_Fraud_detection </a:t>
            </a:r>
            <a:endParaRPr lang="en-US" sz="2550" spc="-140" dirty="0">
              <a:solidFill>
                <a:schemeClr val="bg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>
              <a:lnSpc>
                <a:spcPts val="3315"/>
              </a:lnSpc>
            </a:pPr>
            <a:r>
              <a:rPr lang="en-US" sz="2550" spc="-140" dirty="0">
                <a:solidFill>
                  <a:srgbClr val="CFD8DC"/>
                </a:solidFill>
                <a:latin typeface="Work Sans"/>
                <a:ea typeface="Work Sans"/>
                <a:cs typeface="Work Sans"/>
                <a:sym typeface="Work Sans"/>
              </a:rPr>
              <a:t>March 2026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6750" y="4507797"/>
            <a:ext cx="8947838" cy="2136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31"/>
              </a:lnSpc>
            </a:pPr>
            <a:r>
              <a:rPr lang="en-US" sz="3024" b="1" spc="-166">
                <a:solidFill>
                  <a:srgbClr val="CFD8DC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HIT — Machine Learning Course |  Final Project</a:t>
            </a:r>
          </a:p>
          <a:p>
            <a:pPr algn="l">
              <a:lnSpc>
                <a:spcPts val="3281"/>
              </a:lnSpc>
            </a:pPr>
            <a:endParaRPr lang="en-US" sz="3024" b="1" spc="-166">
              <a:solidFill>
                <a:srgbClr val="CFD8DC"/>
              </a:solidFill>
              <a:latin typeface="Work Sans Bold"/>
              <a:ea typeface="Work Sans Bold"/>
              <a:cs typeface="Work Sans Bold"/>
              <a:sym typeface="Work Sans Bold"/>
            </a:endParaRPr>
          </a:p>
          <a:p>
            <a:pPr algn="l">
              <a:lnSpc>
                <a:spcPts val="3281"/>
              </a:lnSpc>
            </a:pPr>
            <a:r>
              <a:rPr lang="en-US" sz="2524" spc="-138">
                <a:solidFill>
                  <a:srgbClr val="CFD8DC"/>
                </a:solidFill>
                <a:latin typeface="Work Sans"/>
                <a:ea typeface="Work Sans"/>
                <a:cs typeface="Work Sans"/>
                <a:sym typeface="Work Sans"/>
              </a:rPr>
              <a:t>Kaggle IEEE-CIS Competition </a:t>
            </a:r>
          </a:p>
          <a:p>
            <a:pPr algn="l">
              <a:lnSpc>
                <a:spcPts val="3281"/>
              </a:lnSpc>
            </a:pPr>
            <a:r>
              <a:rPr lang="en-US" sz="2524" spc="-138">
                <a:solidFill>
                  <a:srgbClr val="CFD8DC"/>
                </a:solidFill>
                <a:latin typeface="Work Sans"/>
                <a:ea typeface="Work Sans"/>
                <a:cs typeface="Work Sans"/>
                <a:sym typeface="Work Sans"/>
              </a:rPr>
              <a:t>Vesta Corporation Dataset</a:t>
            </a:r>
          </a:p>
          <a:p>
            <a:pPr marL="0" lvl="0" indent="0" algn="l">
              <a:lnSpc>
                <a:spcPts val="3281"/>
              </a:lnSpc>
            </a:pPr>
            <a:endParaRPr lang="en-US" sz="2524" spc="-138">
              <a:solidFill>
                <a:srgbClr val="CFD8D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5024" y="255022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4" name="Freeform 4"/>
          <p:cNvSpPr/>
          <p:nvPr/>
        </p:nvSpPr>
        <p:spPr>
          <a:xfrm>
            <a:off x="717423" y="6948749"/>
            <a:ext cx="3141077" cy="2852990"/>
          </a:xfrm>
          <a:custGeom>
            <a:avLst/>
            <a:gdLst/>
            <a:ahLst/>
            <a:cxnLst/>
            <a:rect l="l" t="t" r="r" b="b"/>
            <a:pathLst>
              <a:path w="3141077" h="2852990">
                <a:moveTo>
                  <a:pt x="0" y="0"/>
                </a:moveTo>
                <a:lnTo>
                  <a:pt x="3141077" y="0"/>
                </a:lnTo>
                <a:lnTo>
                  <a:pt x="3141077" y="2852991"/>
                </a:lnTo>
                <a:lnTo>
                  <a:pt x="0" y="28529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5" name="TextBox 5"/>
          <p:cNvSpPr txBox="1"/>
          <p:nvPr/>
        </p:nvSpPr>
        <p:spPr>
          <a:xfrm>
            <a:off x="1395916" y="792100"/>
            <a:ext cx="15716646" cy="1997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600"/>
              </a:lnSpc>
            </a:pPr>
            <a:r>
              <a:rPr lang="en-US" sz="8000" b="1" spc="-440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Project Goal &amp; Statement</a:t>
            </a:r>
          </a:p>
          <a:p>
            <a:pPr marL="0" lvl="0" indent="0" algn="ctr">
              <a:lnSpc>
                <a:spcPts val="7600"/>
              </a:lnSpc>
            </a:pPr>
            <a:endParaRPr lang="en-US" sz="8000" b="1" spc="-440">
              <a:solidFill>
                <a:srgbClr val="FFFFFF"/>
              </a:solidFill>
              <a:latin typeface="Work Sans Semi-Bold"/>
              <a:ea typeface="Work Sans Semi-Bold"/>
              <a:cs typeface="Work Sans Semi-Bold"/>
              <a:sym typeface="Work Sans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717423" y="3307137"/>
            <a:ext cx="6536418" cy="3355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99"/>
              </a:lnSpc>
            </a:pPr>
            <a:r>
              <a:rPr lang="en-US" sz="2999" b="1" u="sng" spc="-164">
                <a:solidFill>
                  <a:srgbClr val="02A8E7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Project Goal</a:t>
            </a:r>
          </a:p>
          <a:p>
            <a:pPr algn="l">
              <a:lnSpc>
                <a:spcPts val="3249"/>
              </a:lnSpc>
            </a:pPr>
            <a:endParaRPr lang="en-US" sz="2999" b="1" u="sng" spc="-164">
              <a:solidFill>
                <a:srgbClr val="02A8E7"/>
              </a:solidFill>
              <a:latin typeface="Work Sans Semi-Bold"/>
              <a:ea typeface="Work Sans Semi-Bold"/>
              <a:cs typeface="Work Sans Semi-Bold"/>
              <a:sym typeface="Work Sans Semi-Bold"/>
            </a:endParaRPr>
          </a:p>
          <a:p>
            <a:pPr algn="l">
              <a:lnSpc>
                <a:spcPts val="3249"/>
              </a:lnSpc>
            </a:pPr>
            <a:r>
              <a:rPr lang="en-US" sz="2499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Predict the probability that an online transaction is fraudulent, enabling real-time fraud prevention that protects both consumers and businesses from financial loss while minimizing false positives that block legitimate purchases.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65942" y="3307137"/>
            <a:ext cx="9635510" cy="663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99"/>
              </a:lnSpc>
              <a:spcBef>
                <a:spcPct val="0"/>
              </a:spcBef>
            </a:pPr>
            <a:r>
              <a:rPr lang="en-US" sz="2999" b="1" u="sng" strike="noStrike" spc="-164">
                <a:solidFill>
                  <a:srgbClr val="02A8E7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Problem Statement </a:t>
            </a:r>
          </a:p>
          <a:p>
            <a:pPr marL="0" lvl="0" indent="0" algn="l">
              <a:lnSpc>
                <a:spcPts val="3249"/>
              </a:lnSpc>
              <a:spcBef>
                <a:spcPct val="0"/>
              </a:spcBef>
            </a:pPr>
            <a:endParaRPr lang="en-US" sz="2999" b="1" u="sng" strike="noStrike" spc="-164">
              <a:solidFill>
                <a:srgbClr val="02A8E7"/>
              </a:solidFill>
              <a:latin typeface="Work Sans Semi-Bold"/>
              <a:ea typeface="Work Sans Semi-Bold"/>
              <a:cs typeface="Work Sans Semi-Bold"/>
              <a:sym typeface="Work Sans Semi-Bold"/>
            </a:endParaRPr>
          </a:p>
          <a:p>
            <a:pPr marL="0" lvl="0" indent="0" algn="l">
              <a:lnSpc>
                <a:spcPts val="3249"/>
              </a:lnSpc>
              <a:spcBef>
                <a:spcPct val="0"/>
              </a:spcBef>
            </a:pPr>
            <a:r>
              <a:rPr lang="en-US" sz="2499" strike="noStrike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Online payment fraud exploits stolen cards and identity theft to make unauthorized purchases before detection. The task: given a real e-commerce transaction, predict the probability it is fraudulent.</a:t>
            </a:r>
          </a:p>
          <a:p>
            <a:pPr marL="0" lvl="0" indent="0" algn="l">
              <a:lnSpc>
                <a:spcPts val="3249"/>
              </a:lnSpc>
              <a:spcBef>
                <a:spcPct val="0"/>
              </a:spcBef>
            </a:pPr>
            <a:endParaRPr lang="en-US" sz="2499" strike="noStrike" spc="-137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>
              <a:lnSpc>
                <a:spcPts val="3249"/>
              </a:lnSpc>
              <a:spcBef>
                <a:spcPct val="0"/>
              </a:spcBef>
            </a:pPr>
            <a:r>
              <a:rPr lang="en-US" sz="2499" strike="noStrike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What makes it hard: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trike="noStrike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3.5% fraud rate — standard accuracy is meaningless; PR AUC required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trike="noStrike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Temporal structure — fraud patterns evolve; random splits leak future data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trike="noStrike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339 anonymous V-columns — strong signal, zero interpretability; improvement must come from behavioral engineering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trike="noStrike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 UserID — user identity must be reconstructed; a core design decision with direct metric impact</a:t>
            </a:r>
          </a:p>
          <a:p>
            <a:pPr marL="0" lvl="0" indent="0" algn="l">
              <a:lnSpc>
                <a:spcPts val="3249"/>
              </a:lnSpc>
              <a:spcBef>
                <a:spcPct val="0"/>
              </a:spcBef>
            </a:pPr>
            <a:endParaRPr lang="en-US" sz="2499" strike="noStrike" spc="-137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75024" y="255022"/>
            <a:ext cx="16954500" cy="2686050"/>
            <a:chOff x="0" y="0"/>
            <a:chExt cx="4987154" cy="7901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75024" y="209550"/>
            <a:ext cx="16954500" cy="2686050"/>
            <a:chOff x="0" y="0"/>
            <a:chExt cx="4987154" cy="7901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5257439" y="127511"/>
            <a:ext cx="2883758" cy="3162941"/>
            <a:chOff x="0" y="0"/>
            <a:chExt cx="3414467" cy="3745030"/>
          </a:xfrm>
        </p:grpSpPr>
        <p:sp>
          <p:nvSpPr>
            <p:cNvPr id="8" name="Freeform 8"/>
            <p:cNvSpPr/>
            <p:nvPr/>
          </p:nvSpPr>
          <p:spPr>
            <a:xfrm>
              <a:off x="54483" y="50038"/>
              <a:ext cx="3305374" cy="3645589"/>
            </a:xfrm>
            <a:custGeom>
              <a:avLst/>
              <a:gdLst/>
              <a:ahLst/>
              <a:cxnLst/>
              <a:rect l="l" t="t" r="r" b="b"/>
              <a:pathLst>
                <a:path w="3305374" h="3645589">
                  <a:moveTo>
                    <a:pt x="3217744" y="3645589"/>
                  </a:moveTo>
                  <a:lnTo>
                    <a:pt x="87757" y="3645589"/>
                  </a:lnTo>
                  <a:cubicBezTo>
                    <a:pt x="39370" y="3645589"/>
                    <a:pt x="0" y="3606346"/>
                    <a:pt x="0" y="3557832"/>
                  </a:cubicBezTo>
                  <a:lnTo>
                    <a:pt x="0" y="87757"/>
                  </a:lnTo>
                  <a:cubicBezTo>
                    <a:pt x="0" y="39370"/>
                    <a:pt x="39243" y="0"/>
                    <a:pt x="87757" y="0"/>
                  </a:cubicBezTo>
                  <a:lnTo>
                    <a:pt x="3217616" y="0"/>
                  </a:lnTo>
                  <a:cubicBezTo>
                    <a:pt x="3266004" y="0"/>
                    <a:pt x="3305374" y="39243"/>
                    <a:pt x="3305374" y="87757"/>
                  </a:cubicBezTo>
                  <a:lnTo>
                    <a:pt x="3305374" y="3557832"/>
                  </a:lnTo>
                  <a:cubicBezTo>
                    <a:pt x="3305374" y="3606219"/>
                    <a:pt x="3266131" y="3645589"/>
                    <a:pt x="3217616" y="3645589"/>
                  </a:cubicBezTo>
                  <a:close/>
                </a:path>
              </a:pathLst>
            </a:custGeom>
            <a:blipFill>
              <a:blip r:embed="rId2"/>
              <a:stretch>
                <a:fillRect l="-2403" t="-1372" r="-2495" b="-1449"/>
              </a:stretch>
            </a:blipFill>
          </p:spPr>
          <p:txBody>
            <a:bodyPr/>
            <a:lstStyle/>
            <a:p>
              <a:endParaRPr lang="en-IL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3414340" cy="3744903"/>
            </a:xfrm>
            <a:custGeom>
              <a:avLst/>
              <a:gdLst/>
              <a:ahLst/>
              <a:cxnLst/>
              <a:rect l="l" t="t" r="r" b="b"/>
              <a:pathLst>
                <a:path w="3414340" h="3744903">
                  <a:moveTo>
                    <a:pt x="0" y="91567"/>
                  </a:moveTo>
                  <a:lnTo>
                    <a:pt x="0" y="3653336"/>
                  </a:lnTo>
                  <a:cubicBezTo>
                    <a:pt x="0" y="3703882"/>
                    <a:pt x="41021" y="3744903"/>
                    <a:pt x="91567" y="3744903"/>
                  </a:cubicBezTo>
                  <a:lnTo>
                    <a:pt x="3322773" y="3744903"/>
                  </a:lnTo>
                  <a:cubicBezTo>
                    <a:pt x="3373319" y="3744903"/>
                    <a:pt x="3414340" y="3703882"/>
                    <a:pt x="3414340" y="3653336"/>
                  </a:cubicBezTo>
                  <a:lnTo>
                    <a:pt x="3414340" y="91567"/>
                  </a:lnTo>
                  <a:cubicBezTo>
                    <a:pt x="3414340" y="41021"/>
                    <a:pt x="3373319" y="0"/>
                    <a:pt x="3322773" y="0"/>
                  </a:cubicBezTo>
                  <a:lnTo>
                    <a:pt x="91567" y="0"/>
                  </a:lnTo>
                  <a:cubicBezTo>
                    <a:pt x="41021" y="0"/>
                    <a:pt x="0" y="41021"/>
                    <a:pt x="0" y="91567"/>
                  </a:cubicBezTo>
                  <a:close/>
                  <a:moveTo>
                    <a:pt x="2572584" y="331724"/>
                  </a:moveTo>
                  <a:lnTo>
                    <a:pt x="3231714" y="331724"/>
                  </a:lnTo>
                  <a:cubicBezTo>
                    <a:pt x="3282260" y="331724"/>
                    <a:pt x="3323281" y="372745"/>
                    <a:pt x="3323281" y="423291"/>
                  </a:cubicBezTo>
                  <a:lnTo>
                    <a:pt x="3323281" y="3562277"/>
                  </a:lnTo>
                  <a:cubicBezTo>
                    <a:pt x="3323281" y="3612823"/>
                    <a:pt x="3282260" y="3653844"/>
                    <a:pt x="3231714" y="3653844"/>
                  </a:cubicBezTo>
                  <a:lnTo>
                    <a:pt x="182753" y="3653844"/>
                  </a:lnTo>
                  <a:cubicBezTo>
                    <a:pt x="132207" y="3653844"/>
                    <a:pt x="91186" y="3612823"/>
                    <a:pt x="91186" y="3562277"/>
                  </a:cubicBezTo>
                  <a:lnTo>
                    <a:pt x="91186" y="182753"/>
                  </a:lnTo>
                  <a:cubicBezTo>
                    <a:pt x="91186" y="132207"/>
                    <a:pt x="132207" y="91186"/>
                    <a:pt x="182753" y="91186"/>
                  </a:cubicBezTo>
                  <a:lnTo>
                    <a:pt x="2275531" y="91186"/>
                  </a:lnTo>
                  <a:cubicBezTo>
                    <a:pt x="2301566" y="91186"/>
                    <a:pt x="2326458" y="102235"/>
                    <a:pt x="2343857" y="121666"/>
                  </a:cubicBezTo>
                  <a:lnTo>
                    <a:pt x="2504512" y="301244"/>
                  </a:lnTo>
                  <a:cubicBezTo>
                    <a:pt x="2521911" y="320675"/>
                    <a:pt x="2546676" y="331724"/>
                    <a:pt x="2572838" y="331724"/>
                  </a:cubicBezTo>
                  <a:lnTo>
                    <a:pt x="2572584" y="331724"/>
                  </a:lnTo>
                  <a:close/>
                </a:path>
              </a:pathLst>
            </a:custGeom>
            <a:solidFill>
              <a:srgbClr val="2A3541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796321" y="937355"/>
            <a:ext cx="10437465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Class Imbalance &amp; Dataset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10652" y="3485618"/>
            <a:ext cx="9677025" cy="1329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3462"/>
              </a:lnSpc>
              <a:spcBef>
                <a:spcPct val="0"/>
              </a:spcBef>
            </a:pPr>
            <a:r>
              <a:rPr lang="en-US" sz="3462" b="1" u="sng" strike="noStrike" spc="-190" dirty="0">
                <a:solidFill>
                  <a:srgbClr val="38B6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Class Imbalance </a:t>
            </a:r>
            <a:endParaRPr lang="en-US" sz="3462" b="1" u="sng" spc="-190" dirty="0">
              <a:solidFill>
                <a:srgbClr val="38B6FF"/>
              </a:solidFill>
              <a:latin typeface="Work Sans Semi-Bold"/>
              <a:ea typeface="Work Sans Semi-Bold"/>
              <a:cs typeface="Work Sans Semi-Bold"/>
              <a:sym typeface="Work Sans Semi-Bold"/>
            </a:endParaRPr>
          </a:p>
          <a:p>
            <a:pPr marL="342900" lvl="0" indent="-342900">
              <a:lnSpc>
                <a:spcPts val="3462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Statistical baseline: </a:t>
            </a:r>
            <a:r>
              <a:rPr lang="en-US" sz="2800" dirty="0">
                <a:solidFill>
                  <a:schemeClr val="bg1"/>
                </a:solidFill>
              </a:rPr>
              <a:t>predict everything as legitimate → 96.5% accuracy, 0% fraud caught.</a:t>
            </a:r>
            <a:endParaRPr lang="en-US" sz="2499" spc="-137" dirty="0">
              <a:solidFill>
                <a:schemeClr val="bg1"/>
              </a:solidFill>
              <a:latin typeface="Work Sans"/>
              <a:sym typeface="Work Sans Semi-Bold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15329"/>
              </p:ext>
            </p:extLst>
          </p:nvPr>
        </p:nvGraphicFramePr>
        <p:xfrm>
          <a:off x="10904089" y="4392724"/>
          <a:ext cx="6661975" cy="5530502"/>
        </p:xfrm>
        <a:graphic>
          <a:graphicData uri="http://schemas.openxmlformats.org/drawingml/2006/table">
            <a:tbl>
              <a:tblPr/>
              <a:tblGrid>
                <a:gridCol w="15097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2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79702"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 dirty="0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Source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Kaggle IEEE-CIS / Vesta Corporation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73133"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Size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590,540 transactions · ~6 months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79702"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Features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 dirty="0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434 raw + 24 engineered = 458 total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73133"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Split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 kern="1200" dirty="0">
                          <a:solidFill>
                            <a:srgbClr val="FFFFFF"/>
                          </a:solidFill>
                          <a:latin typeface="Canva Sans"/>
                        </a:rPr>
                        <a:t>60% train / 20% </a:t>
                      </a:r>
                      <a:r>
                        <a:rPr lang="en-US" sz="1999" kern="1200" dirty="0" err="1">
                          <a:solidFill>
                            <a:srgbClr val="FFFFFF"/>
                          </a:solidFill>
                          <a:latin typeface="Canva Sans"/>
                        </a:rPr>
                        <a:t>val</a:t>
                      </a:r>
                      <a:r>
                        <a:rPr lang="en-US" sz="1999" kern="1200" dirty="0">
                          <a:solidFill>
                            <a:srgbClr val="FFFFFF"/>
                          </a:solidFill>
                          <a:latin typeface="Canva Sans"/>
                        </a:rPr>
                        <a:t> / 20% test —</a:t>
                      </a:r>
                    </a:p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 kern="1200" dirty="0">
                          <a:solidFill>
                            <a:srgbClr val="FFFFFF"/>
                          </a:solidFill>
                          <a:latin typeface="Canva Sans"/>
                        </a:rPr>
                        <a:t>time-based (3-way split)</a:t>
                      </a: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4832"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Metric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 dirty="0">
                          <a:solidFill>
                            <a:srgbClr val="FFFFFF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ROC AUC (official) + PR AUC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3"/>
          <p:cNvSpPr txBox="1"/>
          <p:nvPr/>
        </p:nvSpPr>
        <p:spPr>
          <a:xfrm>
            <a:off x="10904088" y="3485618"/>
            <a:ext cx="1897511" cy="448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62"/>
              </a:lnSpc>
              <a:spcBef>
                <a:spcPct val="0"/>
              </a:spcBef>
            </a:pPr>
            <a:r>
              <a:rPr lang="en-US" sz="3462" b="1" u="sng" spc="-190" dirty="0">
                <a:solidFill>
                  <a:srgbClr val="02A8E7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Dataset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15688" y="6163719"/>
            <a:ext cx="9677026" cy="3683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b="1" u="none" strike="noStrike" spc="-137" dirty="0">
                <a:solidFill>
                  <a:srgbClr val="58A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ROC AUC</a:t>
            </a:r>
            <a:r>
              <a:rPr lang="en-US" sz="2499" u="none" strike="noStrike" spc="-137" dirty="0">
                <a:solidFill>
                  <a:srgbClr val="58A6FF"/>
                </a:solidFill>
                <a:latin typeface="Work Sans"/>
                <a:ea typeface="Work Sans"/>
                <a:cs typeface="Work Sans"/>
                <a:sym typeface="Work Sans"/>
              </a:rPr>
              <a:t> — Kaggle's official metric.</a:t>
            </a: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Ranks fraud above legitimate across all thresholds.</a:t>
            </a:r>
          </a:p>
          <a:p>
            <a:pPr algn="l">
              <a:lnSpc>
                <a:spcPts val="3249"/>
              </a:lnSpc>
            </a:pPr>
            <a:endParaRPr lang="en-US" sz="2499" u="none" strike="noStrike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b="1" u="none" strike="noStrike" spc="-137" dirty="0">
                <a:solidFill>
                  <a:srgbClr val="D9D9D9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PR AUC</a:t>
            </a:r>
            <a:r>
              <a:rPr lang="en-US" sz="2499" b="1" u="none" strike="noStrike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 </a:t>
            </a: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— with 3.5% fraud, high ROC AUC can still miss most fraud cases. PR AUC exposes this.</a:t>
            </a:r>
          </a:p>
          <a:p>
            <a:pPr algn="l">
              <a:lnSpc>
                <a:spcPts val="3249"/>
              </a:lnSpc>
            </a:pPr>
            <a:endParaRPr lang="en-US" sz="2499" u="none" strike="noStrike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b="1" u="none" strike="noStrike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Accuracy  — </a:t>
            </a: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is not an appropriate metric under severe class imbalance (a model predicting "legitimate" for every transaction scores 96.5% while catching zero fraud).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10653" y="5537468"/>
            <a:ext cx="1775347" cy="448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62"/>
              </a:lnSpc>
              <a:spcBef>
                <a:spcPct val="0"/>
              </a:spcBef>
            </a:pPr>
            <a:r>
              <a:rPr lang="en-US" sz="3462" b="1" u="sng" spc="-190" dirty="0">
                <a:solidFill>
                  <a:srgbClr val="38B6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Metrics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209550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4" name="Freeform 4"/>
          <p:cNvSpPr/>
          <p:nvPr/>
        </p:nvSpPr>
        <p:spPr>
          <a:xfrm>
            <a:off x="13216716" y="6612531"/>
            <a:ext cx="4626914" cy="3439052"/>
          </a:xfrm>
          <a:custGeom>
            <a:avLst/>
            <a:gdLst/>
            <a:ahLst/>
            <a:cxnLst/>
            <a:rect l="l" t="t" r="r" b="b"/>
            <a:pathLst>
              <a:path w="4626914" h="3439052">
                <a:moveTo>
                  <a:pt x="0" y="0"/>
                </a:moveTo>
                <a:lnTo>
                  <a:pt x="4626915" y="0"/>
                </a:lnTo>
                <a:lnTo>
                  <a:pt x="4626915" y="3439052"/>
                </a:lnTo>
                <a:lnTo>
                  <a:pt x="0" y="343905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5" name="TextBox 5"/>
          <p:cNvSpPr txBox="1"/>
          <p:nvPr/>
        </p:nvSpPr>
        <p:spPr>
          <a:xfrm>
            <a:off x="666750" y="3300664"/>
            <a:ext cx="12857924" cy="4092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 b="1" spc="-137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Rejected Techniques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❌</a:t>
            </a:r>
            <a:r>
              <a:rPr lang="en-US" sz="2499" b="1" spc="-137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SMOTE </a:t>
            </a:r>
            <a:r>
              <a:rPr lang="en-US" sz="2499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(generates synthetic fraud samples by interpolating between real ones ) 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Synthetic patterns may not reflect real fraud, degrades model on actual data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❌</a:t>
            </a:r>
            <a:r>
              <a:rPr lang="en-US" sz="2499" b="1" spc="-137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Undersampling 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Discards 80%+ of real legitimate transactions to balance classes — massive, unacceptable information loss</a:t>
            </a:r>
          </a:p>
          <a:p>
            <a:pPr algn="l">
              <a:lnSpc>
                <a:spcPts val="3249"/>
              </a:lnSpc>
            </a:pPr>
            <a:endParaRPr lang="en-US" sz="2499" spc="-137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algn="l">
              <a:lnSpc>
                <a:spcPts val="3249"/>
              </a:lnSpc>
            </a:pPr>
            <a:r>
              <a:rPr lang="en-US" sz="2499" b="1" spc="-137">
                <a:solidFill>
                  <a:srgbClr val="02A8E7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Chosen Approach - Native Class Weights in Each Model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✅ No synthetic data, no data loss, all real transactions preserved.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✅ Each model natively penalizes missed fraud more than false alarms.</a:t>
            </a:r>
          </a:p>
        </p:txBody>
      </p:sp>
      <p:sp>
        <p:nvSpPr>
          <p:cNvPr id="6" name="Freeform 6"/>
          <p:cNvSpPr/>
          <p:nvPr/>
        </p:nvSpPr>
        <p:spPr>
          <a:xfrm>
            <a:off x="666750" y="8195179"/>
            <a:ext cx="11473187" cy="1440911"/>
          </a:xfrm>
          <a:custGeom>
            <a:avLst/>
            <a:gdLst/>
            <a:ahLst/>
            <a:cxnLst/>
            <a:rect l="l" t="t" r="r" b="b"/>
            <a:pathLst>
              <a:path w="11473187" h="1440911">
                <a:moveTo>
                  <a:pt x="0" y="0"/>
                </a:moveTo>
                <a:lnTo>
                  <a:pt x="11473187" y="0"/>
                </a:lnTo>
                <a:lnTo>
                  <a:pt x="11473187" y="1440910"/>
                </a:lnTo>
                <a:lnTo>
                  <a:pt x="0" y="14409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760" b="-760"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7" name="Freeform 7"/>
          <p:cNvSpPr/>
          <p:nvPr/>
        </p:nvSpPr>
        <p:spPr>
          <a:xfrm>
            <a:off x="14982489" y="3329239"/>
            <a:ext cx="2638761" cy="2304384"/>
          </a:xfrm>
          <a:custGeom>
            <a:avLst/>
            <a:gdLst/>
            <a:ahLst/>
            <a:cxnLst/>
            <a:rect l="l" t="t" r="r" b="b"/>
            <a:pathLst>
              <a:path w="2638761" h="2304384">
                <a:moveTo>
                  <a:pt x="0" y="0"/>
                </a:moveTo>
                <a:lnTo>
                  <a:pt x="2638761" y="0"/>
                </a:lnTo>
                <a:lnTo>
                  <a:pt x="2638761" y="2304384"/>
                </a:lnTo>
                <a:lnTo>
                  <a:pt x="0" y="23043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8" name="TextBox 8"/>
          <p:cNvSpPr txBox="1"/>
          <p:nvPr/>
        </p:nvSpPr>
        <p:spPr>
          <a:xfrm>
            <a:off x="1236974" y="711200"/>
            <a:ext cx="16230600" cy="181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Handling Class Imbalance - chosen Approach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67562" y="534422"/>
            <a:ext cx="1920533" cy="2065562"/>
            <a:chOff x="0" y="0"/>
            <a:chExt cx="3482081" cy="3745030"/>
          </a:xfrm>
        </p:grpSpPr>
        <p:sp>
          <p:nvSpPr>
            <p:cNvPr id="3" name="Freeform 3"/>
            <p:cNvSpPr/>
            <p:nvPr/>
          </p:nvSpPr>
          <p:spPr>
            <a:xfrm>
              <a:off x="54483" y="50038"/>
              <a:ext cx="3372988" cy="3645589"/>
            </a:xfrm>
            <a:custGeom>
              <a:avLst/>
              <a:gdLst/>
              <a:ahLst/>
              <a:cxnLst/>
              <a:rect l="l" t="t" r="r" b="b"/>
              <a:pathLst>
                <a:path w="3372988" h="3645589">
                  <a:moveTo>
                    <a:pt x="3285358" y="3645589"/>
                  </a:moveTo>
                  <a:lnTo>
                    <a:pt x="87757" y="3645589"/>
                  </a:lnTo>
                  <a:cubicBezTo>
                    <a:pt x="39370" y="3645589"/>
                    <a:pt x="0" y="3606346"/>
                    <a:pt x="0" y="3557832"/>
                  </a:cubicBezTo>
                  <a:lnTo>
                    <a:pt x="0" y="87757"/>
                  </a:lnTo>
                  <a:cubicBezTo>
                    <a:pt x="0" y="39370"/>
                    <a:pt x="39243" y="0"/>
                    <a:pt x="87757" y="0"/>
                  </a:cubicBezTo>
                  <a:lnTo>
                    <a:pt x="3285231" y="0"/>
                  </a:lnTo>
                  <a:cubicBezTo>
                    <a:pt x="3333618" y="0"/>
                    <a:pt x="3372988" y="39243"/>
                    <a:pt x="3372988" y="87757"/>
                  </a:cubicBezTo>
                  <a:lnTo>
                    <a:pt x="3372988" y="3557832"/>
                  </a:lnTo>
                  <a:cubicBezTo>
                    <a:pt x="3372988" y="3606219"/>
                    <a:pt x="3333745" y="3645589"/>
                    <a:pt x="3285231" y="3645589"/>
                  </a:cubicBezTo>
                  <a:close/>
                </a:path>
              </a:pathLst>
            </a:custGeom>
            <a:blipFill>
              <a:blip r:embed="rId2"/>
              <a:stretch>
                <a:fillRect t="-12" b="-12"/>
              </a:stretch>
            </a:blipFill>
          </p:spPr>
          <p:txBody>
            <a:bodyPr/>
            <a:lstStyle/>
            <a:p>
              <a:endParaRPr lang="en-IL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3481954" cy="3744903"/>
            </a:xfrm>
            <a:custGeom>
              <a:avLst/>
              <a:gdLst/>
              <a:ahLst/>
              <a:cxnLst/>
              <a:rect l="l" t="t" r="r" b="b"/>
              <a:pathLst>
                <a:path w="3481954" h="3744903">
                  <a:moveTo>
                    <a:pt x="0" y="91567"/>
                  </a:moveTo>
                  <a:lnTo>
                    <a:pt x="0" y="3653336"/>
                  </a:lnTo>
                  <a:cubicBezTo>
                    <a:pt x="0" y="3703882"/>
                    <a:pt x="41021" y="3744903"/>
                    <a:pt x="91567" y="3744903"/>
                  </a:cubicBezTo>
                  <a:lnTo>
                    <a:pt x="3390387" y="3744903"/>
                  </a:lnTo>
                  <a:cubicBezTo>
                    <a:pt x="3440933" y="3744903"/>
                    <a:pt x="3481954" y="3703882"/>
                    <a:pt x="3481954" y="3653336"/>
                  </a:cubicBezTo>
                  <a:lnTo>
                    <a:pt x="3481954" y="91567"/>
                  </a:lnTo>
                  <a:cubicBezTo>
                    <a:pt x="3481954" y="41021"/>
                    <a:pt x="3440933" y="0"/>
                    <a:pt x="3390387" y="0"/>
                  </a:cubicBezTo>
                  <a:lnTo>
                    <a:pt x="91567" y="0"/>
                  </a:lnTo>
                  <a:cubicBezTo>
                    <a:pt x="41021" y="0"/>
                    <a:pt x="0" y="41021"/>
                    <a:pt x="0" y="91567"/>
                  </a:cubicBezTo>
                  <a:close/>
                  <a:moveTo>
                    <a:pt x="2640198" y="331724"/>
                  </a:moveTo>
                  <a:lnTo>
                    <a:pt x="3299328" y="331724"/>
                  </a:lnTo>
                  <a:cubicBezTo>
                    <a:pt x="3349874" y="331724"/>
                    <a:pt x="3390895" y="372745"/>
                    <a:pt x="3390895" y="423291"/>
                  </a:cubicBezTo>
                  <a:lnTo>
                    <a:pt x="3390895" y="3562277"/>
                  </a:lnTo>
                  <a:cubicBezTo>
                    <a:pt x="3390895" y="3612823"/>
                    <a:pt x="3349874" y="3653844"/>
                    <a:pt x="3299328" y="3653844"/>
                  </a:cubicBezTo>
                  <a:lnTo>
                    <a:pt x="182753" y="3653844"/>
                  </a:lnTo>
                  <a:cubicBezTo>
                    <a:pt x="132207" y="3653844"/>
                    <a:pt x="91186" y="3612823"/>
                    <a:pt x="91186" y="3562277"/>
                  </a:cubicBezTo>
                  <a:lnTo>
                    <a:pt x="91186" y="182753"/>
                  </a:lnTo>
                  <a:cubicBezTo>
                    <a:pt x="91186" y="132207"/>
                    <a:pt x="132207" y="91186"/>
                    <a:pt x="182753" y="91186"/>
                  </a:cubicBezTo>
                  <a:lnTo>
                    <a:pt x="2343145" y="91186"/>
                  </a:lnTo>
                  <a:cubicBezTo>
                    <a:pt x="2369180" y="91186"/>
                    <a:pt x="2394072" y="102235"/>
                    <a:pt x="2411471" y="121666"/>
                  </a:cubicBezTo>
                  <a:lnTo>
                    <a:pt x="2572126" y="301244"/>
                  </a:lnTo>
                  <a:cubicBezTo>
                    <a:pt x="2589525" y="320675"/>
                    <a:pt x="2614290" y="331724"/>
                    <a:pt x="2640452" y="331724"/>
                  </a:cubicBezTo>
                  <a:lnTo>
                    <a:pt x="2640198" y="331724"/>
                  </a:lnTo>
                  <a:close/>
                </a:path>
              </a:pathLst>
            </a:custGeom>
            <a:solidFill>
              <a:srgbClr val="2A3541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5" name="Freeform 5"/>
          <p:cNvSpPr/>
          <p:nvPr/>
        </p:nvSpPr>
        <p:spPr>
          <a:xfrm>
            <a:off x="10014309" y="3349196"/>
            <a:ext cx="7244991" cy="2831631"/>
          </a:xfrm>
          <a:custGeom>
            <a:avLst/>
            <a:gdLst/>
            <a:ahLst/>
            <a:cxnLst/>
            <a:rect l="l" t="t" r="r" b="b"/>
            <a:pathLst>
              <a:path w="7244991" h="2831631">
                <a:moveTo>
                  <a:pt x="0" y="0"/>
                </a:moveTo>
                <a:lnTo>
                  <a:pt x="7244991" y="0"/>
                </a:lnTo>
                <a:lnTo>
                  <a:pt x="7244991" y="2831630"/>
                </a:lnTo>
                <a:lnTo>
                  <a:pt x="0" y="2831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23"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6" name="Freeform 6"/>
          <p:cNvSpPr/>
          <p:nvPr/>
        </p:nvSpPr>
        <p:spPr>
          <a:xfrm>
            <a:off x="10014309" y="6479220"/>
            <a:ext cx="7244991" cy="3381810"/>
          </a:xfrm>
          <a:custGeom>
            <a:avLst/>
            <a:gdLst/>
            <a:ahLst/>
            <a:cxnLst/>
            <a:rect l="l" t="t" r="r" b="b"/>
            <a:pathLst>
              <a:path w="7244991" h="3381810">
                <a:moveTo>
                  <a:pt x="0" y="0"/>
                </a:moveTo>
                <a:lnTo>
                  <a:pt x="7244991" y="0"/>
                </a:lnTo>
                <a:lnTo>
                  <a:pt x="7244991" y="3381810"/>
                </a:lnTo>
                <a:lnTo>
                  <a:pt x="0" y="33818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621" b="-2621"/>
            </a:stretch>
          </a:blipFill>
        </p:spPr>
        <p:txBody>
          <a:bodyPr/>
          <a:lstStyle/>
          <a:p>
            <a:endParaRPr lang="en-IL"/>
          </a:p>
        </p:txBody>
      </p:sp>
      <p:grpSp>
        <p:nvGrpSpPr>
          <p:cNvPr id="7" name="Group 7"/>
          <p:cNvGrpSpPr/>
          <p:nvPr/>
        </p:nvGrpSpPr>
        <p:grpSpPr>
          <a:xfrm>
            <a:off x="761724" y="230298"/>
            <a:ext cx="16954500" cy="2686050"/>
            <a:chOff x="0" y="0"/>
            <a:chExt cx="4987154" cy="790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75024" y="255022"/>
            <a:ext cx="16954500" cy="2686050"/>
            <a:chOff x="0" y="0"/>
            <a:chExt cx="4987154" cy="7901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75024" y="230298"/>
            <a:ext cx="16954500" cy="2686050"/>
            <a:chOff x="0" y="0"/>
            <a:chExt cx="4987154" cy="7901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13" name="Freeform 13"/>
          <p:cNvSpPr/>
          <p:nvPr/>
        </p:nvSpPr>
        <p:spPr>
          <a:xfrm>
            <a:off x="149386" y="998272"/>
            <a:ext cx="2806928" cy="1942799"/>
          </a:xfrm>
          <a:custGeom>
            <a:avLst/>
            <a:gdLst/>
            <a:ahLst/>
            <a:cxnLst/>
            <a:rect l="l" t="t" r="r" b="b"/>
            <a:pathLst>
              <a:path w="2806928" h="1942799">
                <a:moveTo>
                  <a:pt x="0" y="0"/>
                </a:moveTo>
                <a:lnTo>
                  <a:pt x="2806928" y="0"/>
                </a:lnTo>
                <a:lnTo>
                  <a:pt x="2806928" y="1942800"/>
                </a:lnTo>
                <a:lnTo>
                  <a:pt x="0" y="1942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87000"/>
            </a:blip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14" name="TextBox 14"/>
          <p:cNvSpPr txBox="1"/>
          <p:nvPr/>
        </p:nvSpPr>
        <p:spPr>
          <a:xfrm>
            <a:off x="489504" y="3397060"/>
            <a:ext cx="9009020" cy="6126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Fraud rate </a:t>
            </a:r>
            <a:r>
              <a:rPr lang="en-US" sz="2586" b="1" spc="-142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peaks at night </a:t>
            </a: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hours 5–9 AM (~3 × average)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Legitimate users inactive — fraudsters exploit low-monitoring windows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b="1" spc="-142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Mobile</a:t>
            </a: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fraud rate: 10.17% (×3 average)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Fraudsters </a:t>
            </a:r>
            <a:r>
              <a:rPr lang="en-US" sz="2586" b="1" spc="-142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use card immediately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New recipient email: fraud lift ×1.85 ← strongest signal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New device type: fraud lift ×1.66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All web transactions arrive without device fingerprint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Fraudster uses stolen card, redirects goods to own address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Lift = group fraud rate / overall fraud rate (3.5%)</a:t>
            </a:r>
          </a:p>
          <a:p>
            <a:pPr marL="558330" lvl="1" indent="-279165" algn="l">
              <a:lnSpc>
                <a:spcPts val="3465"/>
              </a:lnSpc>
              <a:buFont typeface="Arial"/>
              <a:buChar char="•"/>
            </a:pPr>
            <a:r>
              <a:rPr lang="en-US" sz="2586" b="1" spc="-142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UID Grouping</a:t>
            </a:r>
            <a:r>
              <a:rPr lang="en-US" sz="2586" spc="-142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: {card1 + addr1} cleanly isolates individual cards</a:t>
            </a:r>
          </a:p>
          <a:p>
            <a:pPr algn="l">
              <a:lnSpc>
                <a:spcPts val="3465"/>
              </a:lnSpc>
            </a:pPr>
            <a:endParaRPr lang="en-US" sz="2586" spc="-142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5018574" y="1131622"/>
            <a:ext cx="89599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999"/>
              </a:lnSpc>
              <a:spcBef>
                <a:spcPct val="0"/>
              </a:spcBef>
            </a:pPr>
            <a:r>
              <a:rPr lang="en-US" sz="6999" b="1" u="none" strike="noStrike" spc="-384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EDA — Key Discoveries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5024" y="230298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4" name="Freeform 4"/>
          <p:cNvSpPr/>
          <p:nvPr/>
        </p:nvSpPr>
        <p:spPr>
          <a:xfrm>
            <a:off x="175804" y="1246459"/>
            <a:ext cx="2839729" cy="1669889"/>
          </a:xfrm>
          <a:custGeom>
            <a:avLst/>
            <a:gdLst/>
            <a:ahLst/>
            <a:cxnLst/>
            <a:rect l="l" t="t" r="r" b="b"/>
            <a:pathLst>
              <a:path w="2839729" h="1669889">
                <a:moveTo>
                  <a:pt x="0" y="0"/>
                </a:moveTo>
                <a:lnTo>
                  <a:pt x="2839729" y="0"/>
                </a:lnTo>
                <a:lnTo>
                  <a:pt x="2839729" y="1669889"/>
                </a:lnTo>
                <a:lnTo>
                  <a:pt x="0" y="16698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9000"/>
            </a:blip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5" name="TextBox 5"/>
          <p:cNvSpPr txBox="1"/>
          <p:nvPr/>
        </p:nvSpPr>
        <p:spPr>
          <a:xfrm>
            <a:off x="1028700" y="513752"/>
            <a:ext cx="16954500" cy="181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UniqueID</a:t>
            </a:r>
          </a:p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 Reconstructing User Identity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8153" y="3386319"/>
            <a:ext cx="8575847" cy="56191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The dataset has no </a:t>
            </a:r>
            <a:r>
              <a:rPr lang="en-US" sz="2499" b="1" spc="-137" dirty="0" err="1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UserID</a:t>
            </a:r>
            <a:r>
              <a:rPr lang="en-US" sz="2499" b="1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 — identity must be reconstructed.</a:t>
            </a:r>
          </a:p>
          <a:p>
            <a:pPr algn="l">
              <a:lnSpc>
                <a:spcPts val="3249"/>
              </a:lnSpc>
            </a:pPr>
            <a:endParaRPr lang="en-US" sz="2499" b="1" spc="-137" dirty="0">
              <a:solidFill>
                <a:srgbClr val="38B6FF"/>
              </a:solidFill>
              <a:latin typeface="Work Sans Bold"/>
              <a:ea typeface="Work Sans Bold"/>
              <a:cs typeface="Work Sans Bold"/>
              <a:sym typeface="Work Sans Bold"/>
            </a:endParaRPr>
          </a:p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UID = card1 + addr1</a:t>
            </a:r>
            <a:r>
              <a:rPr lang="en-US" sz="2499" spc="-137" dirty="0">
                <a:solidFill>
                  <a:srgbClr val="38B6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card1: hashed card number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addr1: billing zip code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UID = [card1 + addr1] cleanly isolates individual cards </a:t>
            </a:r>
          </a:p>
          <a:p>
            <a:pPr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Why not D1?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(used by many Kaggle solutions) 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L" altLang="en-IL" sz="2499" spc="-137" dirty="0">
                <a:solidFill>
                  <a:srgbClr val="FFFFFF"/>
                </a:solidFill>
                <a:latin typeface="Work Sans"/>
              </a:rPr>
              <a:t>D1 drifts over time — it shifts as cards age, fragmenting groups 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IL" altLang="en-IL" sz="2499" spc="-137" dirty="0">
                <a:solidFill>
                  <a:srgbClr val="FFFFFF"/>
                </a:solidFill>
                <a:latin typeface="Work Sans"/>
              </a:rPr>
              <a:t>Adding D1 multiplies group count, leaving most groups with a single transaction (no history to aggregate) </a:t>
            </a:r>
            <a:endParaRPr lang="en-US" sz="2499" spc="-137" dirty="0">
              <a:solidFill>
                <a:srgbClr val="FFFFFF"/>
              </a:solidFill>
              <a:latin typeface="Work Sans"/>
              <a:sym typeface="Work Sans"/>
            </a:endParaRPr>
          </a:p>
          <a:p>
            <a:pPr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9729728" y="3386319"/>
            <a:ext cx="7990119" cy="6140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UID is the foundation for all engineered features: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Aggregation features - 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transaction history per card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Behavioral fingerprint -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spending patterns &amp; anomalies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Product/service profile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- what this card typically buys </a:t>
            </a:r>
          </a:p>
          <a:p>
            <a:pPr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UID was confirmed by analysis: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91.87% of UID groups (Legitimate cards) - zero fraud. Legitimate cards active for months and have many transactions per card </a:t>
            </a:r>
          </a:p>
          <a:p>
            <a:pPr algn="l">
              <a:lnSpc>
                <a:spcPts val="3249"/>
              </a:lnSpc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8.13% of UID groups (Fraud cards) - contain at least one fraud transaction. Fraud cards are blocked quickly → few transactions per card </a:t>
            </a:r>
          </a:p>
          <a:p>
            <a:pPr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5024" y="209550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4" name="Freeform 4"/>
          <p:cNvSpPr/>
          <p:nvPr/>
        </p:nvSpPr>
        <p:spPr>
          <a:xfrm>
            <a:off x="211907" y="761465"/>
            <a:ext cx="2640243" cy="2134135"/>
          </a:xfrm>
          <a:custGeom>
            <a:avLst/>
            <a:gdLst/>
            <a:ahLst/>
            <a:cxnLst/>
            <a:rect l="l" t="t" r="r" b="b"/>
            <a:pathLst>
              <a:path w="2640243" h="2134135">
                <a:moveTo>
                  <a:pt x="0" y="0"/>
                </a:moveTo>
                <a:lnTo>
                  <a:pt x="2640244" y="0"/>
                </a:lnTo>
                <a:lnTo>
                  <a:pt x="2640244" y="2134135"/>
                </a:lnTo>
                <a:lnTo>
                  <a:pt x="0" y="213413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366" b="-5366"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5" name="TextBox 5"/>
          <p:cNvSpPr txBox="1"/>
          <p:nvPr/>
        </p:nvSpPr>
        <p:spPr>
          <a:xfrm>
            <a:off x="875024" y="711200"/>
            <a:ext cx="16954500" cy="167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Feature Engineering </a:t>
            </a:r>
          </a:p>
          <a:p>
            <a:pPr algn="ctr">
              <a:lnSpc>
                <a:spcPts val="6000"/>
              </a:lnSpc>
              <a:spcBef>
                <a:spcPct val="0"/>
              </a:spcBef>
            </a:pPr>
            <a:r>
              <a:rPr lang="en-US" sz="6000" b="1" spc="-330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(in Top 30)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98324" y="3230991"/>
            <a:ext cx="8027439" cy="44911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Aggregation Features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(transaction history per card)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tx_amt_mean</a:t>
            </a: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/std/min/max: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inconsistent amounts → card testing or abuse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tx_amt_ratio</a:t>
            </a: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: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current amount &gt;&gt; card's typical → anomaly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time_since_last_tx</a:t>
            </a: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: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long silence then burst → dormant card activated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delta_amt</a:t>
            </a: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: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large jump between consecutive transactions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tx_count</a:t>
            </a: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 / tx_count_last_30d: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sudden high-volume activity → card just compromised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823524" y="3138443"/>
            <a:ext cx="7841158" cy="40807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  <a:spcBef>
                <a:spcPct val="0"/>
              </a:spcBef>
            </a:pPr>
            <a:r>
              <a:rPr lang="en-US" sz="2499" b="1" u="none" strike="noStrike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Behavioral Fingerprint </a:t>
            </a:r>
            <a:r>
              <a:rPr lang="en-US" sz="2499" b="1" u="none" strike="noStrike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(deviation from card's personal pattern)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i="1" u="none" strike="noStrike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hour_vs_typical</a:t>
            </a:r>
            <a:r>
              <a:rPr lang="en-US" sz="2499" i="1" u="none" strike="noStrike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: </a:t>
            </a: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transaction at unusual hour for this specific card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i="1" u="none" strike="noStrike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uid_time_entropy</a:t>
            </a:r>
            <a:r>
              <a:rPr lang="en-US" sz="2499" i="1" u="none" strike="noStrike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: </a:t>
            </a: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sudden behavioral randomness → routine broken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i="1" u="none" strike="noStrike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amt_vs_personal_median</a:t>
            </a:r>
            <a:r>
              <a:rPr lang="en-US" sz="2499" i="1" u="none" strike="noStrike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: </a:t>
            </a: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amount far above this card's personal norm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i="1" u="none" strike="noStrike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amt_z_score</a:t>
            </a:r>
            <a:r>
              <a:rPr lang="en-US" sz="2499" i="1" u="none" strike="noStrike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: </a:t>
            </a: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statistically extreme amount for this card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762239" y="7658100"/>
            <a:ext cx="7817559" cy="2064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59"/>
              </a:lnSpc>
              <a:spcBef>
                <a:spcPct val="0"/>
              </a:spcBef>
            </a:pPr>
            <a:r>
              <a:rPr lang="en-US" sz="2507" b="1" u="none" strike="noStrike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Product Profile </a:t>
            </a:r>
            <a:r>
              <a:rPr lang="en-US" sz="2507" b="1" u="none" strike="noStrike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(purchase pattern per card)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i="1" u="none" strike="noStrike" spc="-137" dirty="0" err="1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is_new_product</a:t>
            </a:r>
            <a:r>
              <a:rPr lang="en-US" sz="2499" i="1" u="none" strike="noStrike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: </a:t>
            </a: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fraudster buys different product types than the legitimate card owner</a:t>
            </a:r>
          </a:p>
          <a:p>
            <a:pPr marL="622299" lvl="1" indent="-359833">
              <a:lnSpc>
                <a:spcPts val="3249"/>
              </a:lnSpc>
              <a:spcBef>
                <a:spcPct val="0"/>
              </a:spcBef>
              <a:buFont typeface="Arial"/>
              <a:buChar char="⚬"/>
            </a:pPr>
            <a:r>
              <a:rPr lang="en-US" sz="2499" i="1" spc="-137" dirty="0" err="1">
                <a:solidFill>
                  <a:srgbClr val="FFFFFF"/>
                </a:solidFill>
                <a:latin typeface="Work Sans Italics"/>
              </a:rPr>
              <a:t>amt_vs_product_median</a:t>
            </a:r>
            <a:r>
              <a:rPr lang="en-US" sz="2499" i="1" spc="-137" dirty="0">
                <a:solidFill>
                  <a:srgbClr val="FFFFFF"/>
                </a:solidFill>
                <a:latin typeface="Work Sans Italics"/>
              </a:rPr>
              <a:t>: 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current amount vs historical median for this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ProductCD</a:t>
            </a:r>
            <a:r>
              <a:rPr lang="en-US" sz="2800" dirty="0"/>
              <a:t>	</a:t>
            </a:r>
            <a:endParaRPr lang="en-US" sz="2499" u="none" strike="noStrike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98324" y="8297193"/>
            <a:ext cx="8631349" cy="142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53" lvl="1" indent="-269876" algn="l">
              <a:lnSpc>
                <a:spcPts val="2500"/>
              </a:lnSpc>
              <a:buFont typeface="Arial"/>
              <a:buChar char="•"/>
            </a:pPr>
            <a:r>
              <a:rPr lang="en-US" sz="2500" b="1" spc="-137" dirty="0">
                <a:solidFill>
                  <a:srgbClr val="FF751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No-Leakage Architecture </a:t>
            </a:r>
          </a:p>
          <a:p>
            <a:pPr marL="539753" lvl="1" indent="-269876" algn="l">
              <a:lnSpc>
                <a:spcPts val="2500"/>
              </a:lnSpc>
              <a:buFont typeface="Arial"/>
              <a:buChar char="•"/>
            </a:pPr>
            <a:r>
              <a:rPr lang="en-US" sz="2500" b="1" spc="-137" dirty="0">
                <a:solidFill>
                  <a:srgbClr val="FF751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Production-Ready Design </a:t>
            </a:r>
          </a:p>
          <a:p>
            <a:pPr marL="539753" lvl="1" indent="-269876" algn="l">
              <a:lnSpc>
                <a:spcPts val="3250"/>
              </a:lnSpc>
              <a:buFont typeface="Arial"/>
              <a:buChar char="•"/>
            </a:pPr>
            <a:r>
              <a:rPr lang="en-US" sz="2500" b="1" spc="-137" dirty="0">
                <a:solidFill>
                  <a:srgbClr val="FF751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Every feature uses strictly </a:t>
            </a:r>
            <a:r>
              <a:rPr lang="en-US" sz="2500" b="1" u="sng" spc="-137" dirty="0">
                <a:solidFill>
                  <a:srgbClr val="FF751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prior </a:t>
            </a:r>
            <a:r>
              <a:rPr lang="en-US" sz="2500" b="1" spc="-137" dirty="0">
                <a:solidFill>
                  <a:srgbClr val="FF751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transactions only, the current transaction is never included.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5024" y="209550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4" name="Freeform 4"/>
          <p:cNvSpPr/>
          <p:nvPr/>
        </p:nvSpPr>
        <p:spPr>
          <a:xfrm>
            <a:off x="186886" y="814933"/>
            <a:ext cx="2349464" cy="2312754"/>
          </a:xfrm>
          <a:custGeom>
            <a:avLst/>
            <a:gdLst/>
            <a:ahLst/>
            <a:cxnLst/>
            <a:rect l="l" t="t" r="r" b="b"/>
            <a:pathLst>
              <a:path w="2349464" h="2312754">
                <a:moveTo>
                  <a:pt x="0" y="0"/>
                </a:moveTo>
                <a:lnTo>
                  <a:pt x="2349464" y="0"/>
                </a:lnTo>
                <a:lnTo>
                  <a:pt x="2349464" y="2312753"/>
                </a:lnTo>
                <a:lnTo>
                  <a:pt x="0" y="23127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5" name="TextBox 5"/>
          <p:cNvSpPr txBox="1"/>
          <p:nvPr/>
        </p:nvSpPr>
        <p:spPr>
          <a:xfrm>
            <a:off x="4038600" y="659912"/>
            <a:ext cx="10474672" cy="1795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 dirty="0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Time-Based Train/Val/Test  Split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85135" y="3527425"/>
            <a:ext cx="14880956" cy="6132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The dataset spans ~6 months of real transactions. </a:t>
            </a:r>
          </a:p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02A8E7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Split respects temporal order strictly — no shuffle.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Train (60%): ~months 1–3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Validation (20%): ~month 4</a:t>
            </a:r>
          </a:p>
          <a:p>
            <a:pPr marL="539749" lvl="1" indent="-269875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Frozen Test (20%): ~months 5-6</a:t>
            </a:r>
          </a:p>
          <a:p>
            <a:pPr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algn="l">
              <a:lnSpc>
                <a:spcPts val="3249"/>
              </a:lnSpc>
            </a:pPr>
            <a:r>
              <a:rPr lang="en-US" sz="2499" b="1" u="sng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Why not random split?</a:t>
            </a:r>
          </a:p>
          <a:p>
            <a:pPr algn="l">
              <a:lnSpc>
                <a:spcPts val="3249"/>
              </a:lnSpc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Random split: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future transactions </a:t>
            </a:r>
            <a:r>
              <a:rPr lang="en-US" sz="2499" u="sng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leak 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into train → inflated metrics → overoptimistic estimate</a:t>
            </a:r>
          </a:p>
          <a:p>
            <a:pPr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algn="l">
              <a:lnSpc>
                <a:spcPts val="3249"/>
              </a:lnSpc>
            </a:pPr>
            <a:r>
              <a:rPr lang="en-US" sz="2499" b="1" u="sng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Time-based split : train = past only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val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= future only → unbiased estimate of production performance</a:t>
            </a:r>
          </a:p>
          <a:p>
            <a:pPr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algn="l">
              <a:lnSpc>
                <a:spcPts val="3249"/>
              </a:lnSpc>
            </a:pPr>
            <a:r>
              <a:rPr lang="en-US" sz="2499" b="1" u="sng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Why one split — not cross-validation?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 data drift detected over 6 months — a single boundary is valid and mirrors production exactly.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5024" y="209550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168938" y="839420"/>
            <a:ext cx="14366677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 dirty="0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Hyperparameter Tuning with Optuna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93095" y="3326179"/>
            <a:ext cx="8750905" cy="5309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02A8E7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Why Optuna?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Bayesian optimization - learns from every completed trial, focuses search on promising parameter regions. 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Pruning kills unpromising trials early → finds near-optimal params in 30–100 trials.</a:t>
            </a:r>
          </a:p>
          <a:p>
            <a:pPr algn="l">
              <a:lnSpc>
                <a:spcPts val="3249"/>
              </a:lnSpc>
            </a:pP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Why not alternatives?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Grid Search: 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~60K combinations → computationally impossible with CPU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i="1" spc="-137" dirty="0">
                <a:solidFill>
                  <a:srgbClr val="FFFFFF"/>
                </a:solidFill>
                <a:latin typeface="Work Sans Italics"/>
                <a:ea typeface="Work Sans Italics"/>
                <a:cs typeface="Work Sans Italics"/>
                <a:sym typeface="Work Sans Italics"/>
              </a:rPr>
              <a:t>Random Search: 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 learning between trials → does </a:t>
            </a:r>
            <a:r>
              <a:rPr lang="en-US" sz="2499" u="sng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not 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improve over time</a:t>
            </a:r>
          </a:p>
          <a:p>
            <a:pPr marL="719666" lvl="2"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>
              <a:lnSpc>
                <a:spcPts val="3249"/>
              </a:lnSpc>
              <a:spcBef>
                <a:spcPct val="0"/>
              </a:spcBef>
            </a:pPr>
            <a:r>
              <a:rPr lang="en-US" sz="2499" b="1" spc="-137" dirty="0">
                <a:solidFill>
                  <a:srgbClr val="02A8E7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Quality Levels of Optuna (tuning depth control):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med_high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 — 75% data, ~8–10h per ML-model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CCF16F-09A8-9F48-2B81-9E0C619C6EA2}"/>
              </a:ext>
            </a:extLst>
          </p:cNvPr>
          <p:cNvSpPr txBox="1"/>
          <p:nvPr/>
        </p:nvSpPr>
        <p:spPr>
          <a:xfrm>
            <a:off x="9352276" y="3296574"/>
            <a:ext cx="8304531" cy="665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99" b="1" spc="-137" dirty="0">
                <a:solidFill>
                  <a:srgbClr val="02A8E7"/>
                </a:solidFill>
                <a:latin typeface="Work Sans Bold"/>
              </a:rPr>
              <a:t>Objective: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V2: maximize </a:t>
            </a:r>
            <a:r>
              <a:rPr lang="en-US" sz="2499" b="1" i="1" spc="-137" dirty="0">
                <a:solidFill>
                  <a:srgbClr val="FFFFFF"/>
                </a:solidFill>
                <a:latin typeface="Work Sans"/>
              </a:rPr>
              <a:t>ROC AUC 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on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val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-set (Kaggle's official metric)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V3: maximize </a:t>
            </a:r>
            <a:r>
              <a:rPr lang="en-US" sz="2499" b="1" i="1" spc="-137" dirty="0">
                <a:solidFill>
                  <a:srgbClr val="FFFFFF"/>
                </a:solidFill>
                <a:latin typeface="Work Sans"/>
              </a:rPr>
              <a:t>PR AUC 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(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avg_precision_score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) on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val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-set</a:t>
            </a:r>
          </a:p>
          <a:p>
            <a:pPr>
              <a:buNone/>
            </a:pPr>
            <a:endParaRPr lang="en-US" sz="2499" spc="-137" dirty="0">
              <a:solidFill>
                <a:srgbClr val="FFFFFF"/>
              </a:solidFill>
              <a:latin typeface="Work Sans"/>
            </a:endParaRPr>
          </a:p>
          <a:p>
            <a:pPr>
              <a:buNone/>
            </a:pPr>
            <a:r>
              <a:rPr lang="en-US" sz="2499" b="1" spc="-137" dirty="0">
                <a:solidFill>
                  <a:srgbClr val="02A8E7"/>
                </a:solidFill>
                <a:latin typeface="Work Sans Bold"/>
              </a:rPr>
              <a:t>Early stopping for hyperparameters optimization: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if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val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 </a:t>
            </a:r>
            <a:r>
              <a:rPr lang="en-US" sz="2499" b="1" spc="-137" dirty="0">
                <a:solidFill>
                  <a:srgbClr val="FFFFFF"/>
                </a:solidFill>
                <a:latin typeface="Work Sans"/>
              </a:rPr>
              <a:t>optimized metric 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does not improve for N rounds → trial stops early, saving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99" spc="-137" dirty="0">
              <a:solidFill>
                <a:srgbClr val="FFFFFF"/>
              </a:solidFill>
              <a:latin typeface="Work Sans"/>
            </a:endParaRPr>
          </a:p>
          <a:p>
            <a:pPr>
              <a:lnSpc>
                <a:spcPts val="3249"/>
              </a:lnSpc>
              <a:spcBef>
                <a:spcPct val="0"/>
              </a:spcBef>
            </a:pPr>
            <a:r>
              <a:rPr lang="en-US" sz="2499" b="1" spc="-137" dirty="0" err="1">
                <a:solidFill>
                  <a:srgbClr val="02A8E7"/>
                </a:solidFill>
                <a:latin typeface="Work Sans Bold"/>
              </a:rPr>
              <a:t>XGBoost</a:t>
            </a:r>
            <a:r>
              <a:rPr lang="en-US" sz="2499" b="1" spc="-137" dirty="0">
                <a:solidFill>
                  <a:srgbClr val="02A8E7"/>
                </a:solidFill>
                <a:latin typeface="Work Sans Bold"/>
              </a:rPr>
              <a:t> Feature Exposure Fix &amp; Tuning Design: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b="1" spc="-137" dirty="0">
                <a:solidFill>
                  <a:srgbClr val="FFFFFF"/>
                </a:solidFill>
                <a:latin typeface="Work Sans Bold"/>
              </a:rPr>
              <a:t>Optimization for </a:t>
            </a:r>
            <a:r>
              <a:rPr lang="en-US" sz="2499" b="1" spc="-137" dirty="0" err="1">
                <a:solidFill>
                  <a:srgbClr val="FFFFFF"/>
                </a:solidFill>
                <a:latin typeface="Work Sans Bold"/>
              </a:rPr>
              <a:t>XGBoost</a:t>
            </a:r>
            <a:r>
              <a:rPr lang="en-US" sz="2499" b="1" spc="-137" dirty="0">
                <a:solidFill>
                  <a:srgbClr val="FFFFFF"/>
                </a:solidFill>
                <a:latin typeface="Work Sans Bold"/>
              </a:rPr>
              <a:t>:</a:t>
            </a:r>
            <a:r>
              <a:rPr lang="en-US" sz="2499" b="1" spc="-137" dirty="0">
                <a:solidFill>
                  <a:srgbClr val="FFFFFF"/>
                </a:solidFill>
                <a:latin typeface="Work Sans"/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99" i="1" spc="-137" dirty="0" err="1">
                <a:solidFill>
                  <a:srgbClr val="FFFFFF"/>
                </a:solidFill>
                <a:latin typeface="Work Sans Italics"/>
              </a:rPr>
              <a:t>colsample_bytree</a:t>
            </a:r>
            <a:r>
              <a:rPr lang="en-US" sz="2499" i="1" spc="-137" dirty="0">
                <a:solidFill>
                  <a:srgbClr val="FFFFFF"/>
                </a:solidFill>
                <a:latin typeface="Work Sans Italics"/>
              </a:rPr>
              <a:t> 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search space narrowed to force trees to sample ~20–90 columns (instead of ~180–460), giving 24 engineered features fair exposure vs 336 V-columns (anonymized proprietary features).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This is NOT needed for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LightGBM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 that </a:t>
            </a:r>
            <a:r>
              <a:rPr lang="en-US" sz="2499" u="sng" spc="-137" dirty="0">
                <a:solidFill>
                  <a:srgbClr val="FFFFFF"/>
                </a:solidFill>
                <a:latin typeface="Work Sans"/>
              </a:rPr>
              <a:t>naturally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 get sufficient exposure by far more splits per tree.</a:t>
            </a:r>
          </a:p>
        </p:txBody>
      </p:sp>
      <p:sp>
        <p:nvSpPr>
          <p:cNvPr id="12" name="Freeform 4"/>
          <p:cNvSpPr/>
          <p:nvPr/>
        </p:nvSpPr>
        <p:spPr>
          <a:xfrm>
            <a:off x="152400" y="1045604"/>
            <a:ext cx="3429000" cy="2061691"/>
          </a:xfrm>
          <a:custGeom>
            <a:avLst/>
            <a:gdLst/>
            <a:ahLst/>
            <a:cxnLst/>
            <a:rect l="l" t="t" r="r" b="b"/>
            <a:pathLst>
              <a:path w="4824812" h="2828057">
                <a:moveTo>
                  <a:pt x="0" y="0"/>
                </a:moveTo>
                <a:lnTo>
                  <a:pt x="4824811" y="0"/>
                </a:lnTo>
                <a:lnTo>
                  <a:pt x="4824811" y="2828057"/>
                </a:lnTo>
                <a:lnTo>
                  <a:pt x="0" y="282805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6000"/>
            </a:blip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763000" y="7036361"/>
            <a:ext cx="9263073" cy="3160268"/>
          </a:xfrm>
          <a:custGeom>
            <a:avLst/>
            <a:gdLst/>
            <a:ahLst/>
            <a:cxnLst/>
            <a:rect l="l" t="t" r="r" b="b"/>
            <a:pathLst>
              <a:path w="10296546" h="3899817">
                <a:moveTo>
                  <a:pt x="0" y="0"/>
                </a:moveTo>
                <a:lnTo>
                  <a:pt x="10296546" y="0"/>
                </a:lnTo>
                <a:lnTo>
                  <a:pt x="10296546" y="3899816"/>
                </a:lnTo>
                <a:lnTo>
                  <a:pt x="0" y="389981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0" y="7810500"/>
            <a:ext cx="1219200" cy="863031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300027" y="3365933"/>
            <a:ext cx="17392087" cy="36704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49"/>
              </a:lnSpc>
              <a:spcBef>
                <a:spcPct val="0"/>
              </a:spcBef>
            </a:pPr>
            <a:r>
              <a:rPr lang="en-US" sz="2499" b="1" strike="noStrike" spc="-137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Each model tuned independently - different hyperparameters, different sensitivities</a:t>
            </a:r>
          </a:p>
          <a:p>
            <a:pPr algn="l">
              <a:lnSpc>
                <a:spcPts val="3249"/>
              </a:lnSpc>
              <a:spcBef>
                <a:spcPct val="0"/>
              </a:spcBef>
            </a:pPr>
            <a:r>
              <a:rPr lang="en-US" sz="2499" b="1" spc="-137" dirty="0">
                <a:solidFill>
                  <a:srgbClr val="38B6FF"/>
                </a:solidFill>
                <a:latin typeface="Work Sans Bold"/>
                <a:ea typeface="Work Sans"/>
                <a:cs typeface="Work Sans"/>
                <a:sym typeface="Work Sans Bold"/>
              </a:rPr>
              <a:t>V2:</a:t>
            </a:r>
            <a:endParaRPr lang="en-US" sz="2499" strike="noStrike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trike="noStrike" spc="-137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LightGBM</a:t>
            </a:r>
            <a:r>
              <a:rPr lang="en-US" sz="2499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V2 — </a:t>
            </a:r>
            <a:r>
              <a:rPr lang="en-US" sz="2499" strike="noStrike" spc="-137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med_high</a:t>
            </a:r>
            <a:r>
              <a:rPr lang="en-US" sz="2499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for ROC AUC optimization (75 trials, 75% data, up to ~8-10h)</a:t>
            </a:r>
          </a:p>
          <a:p>
            <a:pPr marL="539749" lvl="1" indent="-269875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trike="noStrike" spc="-137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XGBoost</a:t>
            </a:r>
            <a:r>
              <a:rPr lang="en-US" sz="2499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  —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med_high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(75 trials, 75% data, up to ~10h)</a:t>
            </a:r>
          </a:p>
          <a:p>
            <a:pPr marL="539749" lvl="1" indent="-269875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trike="noStrike" spc="-137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CatBoost</a:t>
            </a:r>
            <a:r>
              <a:rPr lang="en-US" sz="2499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removed from pipeline (see Experiments slide) </a:t>
            </a:r>
            <a:r>
              <a:rPr lang="en-US" sz="2499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Optuna killed after ~10h at ~50% completion</a:t>
            </a:r>
          </a:p>
          <a:p>
            <a:pPr marL="539749" lvl="1" indent="-269875" algn="l">
              <a:lnSpc>
                <a:spcPts val="324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Final training always uses the full train dataset (60%) with the found parameters</a:t>
            </a:r>
            <a:endParaRPr lang="en-US" sz="2499" spc="-137" dirty="0">
              <a:solidFill>
                <a:srgbClr val="FFFFFF"/>
              </a:solidFill>
              <a:latin typeface="Work Sans"/>
              <a:sym typeface="Work Sans"/>
            </a:endParaRPr>
          </a:p>
          <a:p>
            <a:pPr marL="0" lvl="1">
              <a:lnSpc>
                <a:spcPts val="3249"/>
              </a:lnSpc>
              <a:spcBef>
                <a:spcPct val="0"/>
              </a:spcBef>
            </a:pPr>
            <a:r>
              <a:rPr lang="en-US" sz="2499" b="1" spc="-137" dirty="0">
                <a:solidFill>
                  <a:srgbClr val="38B6FF"/>
                </a:solidFill>
                <a:latin typeface="Work Sans Bold"/>
                <a:sym typeface="Work Sans"/>
              </a:rPr>
              <a:t>V3:</a:t>
            </a:r>
          </a:p>
          <a:p>
            <a:pPr marL="612774" lvl="1" indent="-342900" algn="l">
              <a:lnSpc>
                <a:spcPts val="324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LightGBM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 V3 —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med_high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 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for PR AUC optimization 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(75 trials, 75% data, PR AUC objective + instance weighting [w=1,2,3,4 by temporal chunk])</a:t>
            </a:r>
            <a:endParaRPr lang="en-US" sz="2499" spc="-137" dirty="0">
              <a:solidFill>
                <a:srgbClr val="FFFFFF"/>
              </a:solidFill>
              <a:latin typeface="Work Sans"/>
              <a:sym typeface="Work Sans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875026" y="270444"/>
            <a:ext cx="16954500" cy="2686050"/>
            <a:chOff x="0" y="0"/>
            <a:chExt cx="4987154" cy="7901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168938" y="724816"/>
            <a:ext cx="14366677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 dirty="0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Hyperparameter Tuning with Optuna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52400" y="854645"/>
            <a:ext cx="2221317" cy="2305596"/>
            <a:chOff x="0" y="0"/>
            <a:chExt cx="1935901" cy="213945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35903" cy="2139471"/>
            </a:xfrm>
            <a:custGeom>
              <a:avLst/>
              <a:gdLst/>
              <a:ahLst/>
              <a:cxnLst/>
              <a:rect l="l" t="t" r="r" b="b"/>
              <a:pathLst>
                <a:path w="1935903" h="2139471">
                  <a:moveTo>
                    <a:pt x="1448460" y="0"/>
                  </a:moveTo>
                  <a:lnTo>
                    <a:pt x="177673" y="0"/>
                  </a:lnTo>
                  <a:cubicBezTo>
                    <a:pt x="79547" y="0"/>
                    <a:pt x="0" y="79547"/>
                    <a:pt x="0" y="177673"/>
                  </a:cubicBezTo>
                  <a:lnTo>
                    <a:pt x="0" y="1961798"/>
                  </a:lnTo>
                  <a:cubicBezTo>
                    <a:pt x="0" y="2059924"/>
                    <a:pt x="79547" y="2139471"/>
                    <a:pt x="177673" y="2139471"/>
                  </a:cubicBezTo>
                  <a:lnTo>
                    <a:pt x="1758230" y="2139471"/>
                  </a:lnTo>
                  <a:cubicBezTo>
                    <a:pt x="1856356" y="2139471"/>
                    <a:pt x="1935903" y="2059924"/>
                    <a:pt x="1935903" y="1961798"/>
                  </a:cubicBezTo>
                  <a:lnTo>
                    <a:pt x="1935903" y="523958"/>
                  </a:lnTo>
                  <a:cubicBezTo>
                    <a:pt x="1935903" y="480251"/>
                    <a:pt x="1919793" y="438079"/>
                    <a:pt x="1890654" y="405503"/>
                  </a:cubicBezTo>
                  <a:lnTo>
                    <a:pt x="1580877" y="59214"/>
                  </a:lnTo>
                  <a:cubicBezTo>
                    <a:pt x="1547173" y="21536"/>
                    <a:pt x="1499013" y="0"/>
                    <a:pt x="1448460" y="0"/>
                  </a:cubicBezTo>
                  <a:close/>
                </a:path>
              </a:pathLst>
            </a:custGeom>
            <a:blipFill>
              <a:blip r:embed="rId4"/>
              <a:stretch>
                <a:fillRect t="-130" b="-130"/>
              </a:stretch>
            </a:blipFill>
          </p:spPr>
          <p:txBody>
            <a:bodyPr/>
            <a:lstStyle/>
            <a:p>
              <a:endParaRPr lang="en-IL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5024" y="209550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3416639" y="800100"/>
            <a:ext cx="11871275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 dirty="0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Ensemble VS Solo GBM Model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81000" y="3290837"/>
            <a:ext cx="1620048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000"/>
              </a:lnSpc>
              <a:spcBef>
                <a:spcPct val="0"/>
              </a:spcBef>
            </a:pPr>
            <a:r>
              <a:rPr lang="en-US" sz="3000" b="1" spc="-165" dirty="0">
                <a:solidFill>
                  <a:srgbClr val="38B6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Results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005450" y="3201581"/>
            <a:ext cx="8032470" cy="54245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99"/>
              </a:lnSpc>
            </a:pPr>
            <a:r>
              <a:rPr lang="en-US" sz="2999" b="1" spc="-164" dirty="0">
                <a:solidFill>
                  <a:srgbClr val="38B6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Conclusions</a:t>
            </a:r>
          </a:p>
          <a:p>
            <a:pPr marL="539749" lvl="1" indent="-269875">
              <a:lnSpc>
                <a:spcPts val="3249"/>
              </a:lnSpc>
              <a:buFont typeface="Arial"/>
              <a:buChar char="•"/>
            </a:pP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XGBoost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 tried in multiple configurations: standalone, weighted ensemble with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LightGBM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, and on </a:t>
            </a:r>
            <a:r>
              <a:rPr lang="en-US" sz="2499" spc="-137" dirty="0" err="1">
                <a:solidFill>
                  <a:srgbClr val="FFFFFF"/>
                </a:solidFill>
                <a:latin typeface="Work Sans"/>
              </a:rPr>
              <a:t>LightGBM's</a:t>
            </a: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 top-100 features — all below </a:t>
            </a:r>
            <a:r>
              <a:rPr lang="en-US" sz="2800" dirty="0" err="1">
                <a:solidFill>
                  <a:schemeClr val="bg1"/>
                </a:solidFill>
              </a:rPr>
              <a:t>LightGBM</a:t>
            </a:r>
            <a:r>
              <a:rPr lang="en-US" sz="2800" dirty="0">
                <a:solidFill>
                  <a:schemeClr val="bg1"/>
                </a:solidFill>
              </a:rPr>
              <a:t> on PR AUC</a:t>
            </a:r>
            <a:endParaRPr lang="en-US" sz="2499" spc="-137" dirty="0">
              <a:solidFill>
                <a:schemeClr val="bg1"/>
              </a:solidFill>
              <a:latin typeface="Work Sans"/>
            </a:endParaRPr>
          </a:p>
          <a:p>
            <a:pPr marL="269874" lvl="1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r>
              <a:rPr lang="en-US" sz="2499" spc="-137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CatBoost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excluded - Optuna killed after ~10h at ~50% completion</a:t>
            </a:r>
          </a:p>
          <a:p>
            <a:pPr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algn="l">
              <a:lnSpc>
                <a:spcPts val="3249"/>
              </a:lnSpc>
            </a:pPr>
            <a:r>
              <a:rPr lang="en-US" sz="2999" b="1" spc="-164" dirty="0">
                <a:solidFill>
                  <a:srgbClr val="38B6FF"/>
                </a:solidFill>
                <a:latin typeface="Work Sans Bold"/>
                <a:sym typeface="Work Sans Bold"/>
              </a:rPr>
              <a:t>Selected:</a:t>
            </a:r>
          </a:p>
          <a:p>
            <a:pPr marL="457200" indent="-457200">
              <a:lnSpc>
                <a:spcPts val="3249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V2 and V3 optimized on different objectives (partially uncorrelated errors)</a:t>
            </a:r>
          </a:p>
          <a:p>
            <a:pPr marL="457200" indent="-457200">
              <a:lnSpc>
                <a:spcPts val="3249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999" b="1" spc="-164" dirty="0">
                <a:solidFill>
                  <a:srgbClr val="38B6FF"/>
                </a:solidFill>
                <a:latin typeface="Work Sans Bold"/>
              </a:rPr>
              <a:t>Averaging</a:t>
            </a:r>
            <a:r>
              <a:rPr lang="en-US" sz="2800" dirty="0">
                <a:solidFill>
                  <a:schemeClr val="bg1"/>
                </a:solidFill>
              </a:rPr>
              <a:t> is effective (</a:t>
            </a:r>
            <a:r>
              <a:rPr lang="en-US" sz="2800" b="1" dirty="0">
                <a:solidFill>
                  <a:schemeClr val="bg1"/>
                </a:solidFill>
              </a:rPr>
              <a:t>Ensemble V2 + V3</a:t>
            </a:r>
            <a:r>
              <a:rPr lang="en-US" sz="2800" dirty="0">
                <a:solidFill>
                  <a:schemeClr val="bg1"/>
                </a:solidFill>
              </a:rPr>
              <a:t>)</a:t>
            </a:r>
            <a:endParaRPr lang="en-US" sz="2499" b="1" spc="-137" dirty="0">
              <a:solidFill>
                <a:schemeClr val="bg1"/>
              </a:solidFill>
              <a:latin typeface="Work Sans Bold"/>
              <a:ea typeface="Work Sans Bold"/>
              <a:cs typeface="Work Sans Bold"/>
              <a:sym typeface="Work Sans Bold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FE8118B-F272-5C8F-3BAB-54801A6D11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0394"/>
              </p:ext>
            </p:extLst>
          </p:nvPr>
        </p:nvGraphicFramePr>
        <p:xfrm>
          <a:off x="590032" y="3980358"/>
          <a:ext cx="8610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8568">
                  <a:extLst>
                    <a:ext uri="{9D8B030D-6E8A-4147-A177-3AD203B41FA5}">
                      <a16:colId xmlns:a16="http://schemas.microsoft.com/office/drawing/2014/main" val="1414329781"/>
                    </a:ext>
                  </a:extLst>
                </a:gridCol>
                <a:gridCol w="1352032">
                  <a:extLst>
                    <a:ext uri="{9D8B030D-6E8A-4147-A177-3AD203B41FA5}">
                      <a16:colId xmlns:a16="http://schemas.microsoft.com/office/drawing/2014/main" val="2740742044"/>
                    </a:ext>
                  </a:extLst>
                </a:gridCol>
                <a:gridCol w="1162568">
                  <a:extLst>
                    <a:ext uri="{9D8B030D-6E8A-4147-A177-3AD203B41FA5}">
                      <a16:colId xmlns:a16="http://schemas.microsoft.com/office/drawing/2014/main" val="2083964240"/>
                    </a:ext>
                  </a:extLst>
                </a:gridCol>
                <a:gridCol w="1352032">
                  <a:extLst>
                    <a:ext uri="{9D8B030D-6E8A-4147-A177-3AD203B41FA5}">
                      <a16:colId xmlns:a16="http://schemas.microsoft.com/office/drawing/2014/main" val="32612895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702150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>
                          <a:solidFill>
                            <a:schemeClr val="bg1"/>
                          </a:solidFill>
                        </a:rPr>
                        <a:t>Val ROC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Val PR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Test ROC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</a:rPr>
                        <a:t>Test PR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1069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V2: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LightGBM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(ROC AUC objective)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dirty="0">
                          <a:solidFill>
                            <a:schemeClr val="tx1"/>
                          </a:solidFill>
                        </a:rPr>
                        <a:t>0.9327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dirty="0">
                          <a:solidFill>
                            <a:schemeClr val="tx1"/>
                          </a:solidFill>
                        </a:rPr>
                        <a:t>0.6281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>
                          <a:solidFill>
                            <a:schemeClr val="tx1"/>
                          </a:solidFill>
                        </a:rPr>
                        <a:t>0.8974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dirty="0">
                          <a:solidFill>
                            <a:schemeClr val="tx1"/>
                          </a:solidFill>
                        </a:rPr>
                        <a:t>0.5087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5362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V3: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LightGBM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pPr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(PR AUC + weights)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>
                          <a:solidFill>
                            <a:schemeClr val="tx1"/>
                          </a:solidFill>
                        </a:rPr>
                        <a:t>0.9241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>
                          <a:solidFill>
                            <a:schemeClr val="tx1"/>
                          </a:solidFill>
                        </a:rPr>
                        <a:t>0.6470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dirty="0">
                          <a:solidFill>
                            <a:schemeClr val="tx1"/>
                          </a:solidFill>
                        </a:rPr>
                        <a:t>0.8904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dirty="0">
                          <a:solidFill>
                            <a:schemeClr val="tx1"/>
                          </a:solidFill>
                        </a:rPr>
                        <a:t>0.5142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6938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★ Final: </a:t>
                      </a:r>
                    </a:p>
                    <a:p>
                      <a:pPr>
                        <a:buNone/>
                      </a:pPr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Ensemble (AVG) V2 + V3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b="1" dirty="0">
                          <a:solidFill>
                            <a:schemeClr val="tx1"/>
                          </a:solidFill>
                        </a:rPr>
                        <a:t>0.9342</a:t>
                      </a:r>
                      <a:endParaRPr lang="en-IL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b="1" dirty="0">
                          <a:solidFill>
                            <a:schemeClr val="tx1"/>
                          </a:solidFill>
                        </a:rPr>
                        <a:t>0.6440</a:t>
                      </a:r>
                      <a:endParaRPr lang="en-IL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b="1">
                          <a:solidFill>
                            <a:schemeClr val="tx1"/>
                          </a:solidFill>
                        </a:rPr>
                        <a:t>0.8990</a:t>
                      </a:r>
                      <a:endParaRPr lang="en-IL" sz="240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2400" b="1" dirty="0">
                          <a:solidFill>
                            <a:schemeClr val="tx1"/>
                          </a:solidFill>
                        </a:rPr>
                        <a:t>0.5178</a:t>
                      </a:r>
                      <a:endParaRPr lang="en-IL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3611602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C791C11-74B2-4F28-532B-EC4D89C5111A}"/>
              </a:ext>
            </a:extLst>
          </p:cNvPr>
          <p:cNvSpPr txBox="1"/>
          <p:nvPr/>
        </p:nvSpPr>
        <p:spPr>
          <a:xfrm>
            <a:off x="459041" y="7211238"/>
            <a:ext cx="9144000" cy="278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b="1" spc="-137" dirty="0">
                <a:solidFill>
                  <a:srgbClr val="FFFFFF"/>
                </a:solidFill>
                <a:latin typeface="Work Sans"/>
              </a:rPr>
              <a:t>Statistical baseline: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predict everything as legitimate → 96.5% accuracy,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PR AUC = 0.035 (3.5% fraud rate)</a:t>
            </a:r>
          </a:p>
          <a:p>
            <a:pPr lvl="1"/>
            <a:endParaRPr lang="en-US" sz="2499" spc="-137" dirty="0">
              <a:solidFill>
                <a:srgbClr val="FFFFFF"/>
              </a:solidFill>
              <a:latin typeface="Work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b="1" spc="-137" dirty="0">
                <a:solidFill>
                  <a:srgbClr val="FFFFFF"/>
                </a:solidFill>
                <a:latin typeface="Work Sans"/>
              </a:rPr>
              <a:t>Ensemble V2+V3: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Test PR AUC = 0.5178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Improvement = 0.5178 / 0.035 = ~14.8x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190021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4" name="Freeform 4"/>
          <p:cNvSpPr/>
          <p:nvPr/>
        </p:nvSpPr>
        <p:spPr>
          <a:xfrm>
            <a:off x="12573000" y="2207252"/>
            <a:ext cx="5489150" cy="1883098"/>
          </a:xfrm>
          <a:custGeom>
            <a:avLst/>
            <a:gdLst/>
            <a:ahLst/>
            <a:cxnLst/>
            <a:rect l="l" t="t" r="r" b="b"/>
            <a:pathLst>
              <a:path w="6357621" h="2209004">
                <a:moveTo>
                  <a:pt x="0" y="0"/>
                </a:moveTo>
                <a:lnTo>
                  <a:pt x="6357621" y="0"/>
                </a:lnTo>
                <a:lnTo>
                  <a:pt x="6357621" y="2209004"/>
                </a:lnTo>
                <a:lnTo>
                  <a:pt x="0" y="22090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6000"/>
            </a:blip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5" name="TextBox 5"/>
          <p:cNvSpPr txBox="1"/>
          <p:nvPr/>
        </p:nvSpPr>
        <p:spPr>
          <a:xfrm>
            <a:off x="3796382" y="1019965"/>
            <a:ext cx="10695236" cy="897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 dirty="0">
                <a:solidFill>
                  <a:srgbClr val="FFFFFF"/>
                </a:solidFill>
                <a:latin typeface="Work Sans Semi-Bold"/>
              </a:rPr>
              <a:t>Pipeline Summary</a:t>
            </a:r>
            <a:endParaRPr lang="en-US" sz="6999" b="1" spc="-384" dirty="0">
              <a:solidFill>
                <a:srgbClr val="FFFFFF"/>
              </a:solidFill>
              <a:latin typeface="Work Sans Semi-Bold"/>
              <a:sym typeface="Work Sans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44440" y="3421531"/>
            <a:ext cx="8814470" cy="65430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249"/>
              </a:lnSpc>
              <a:buAutoNum type="arabicPeriod"/>
            </a:pP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EDA: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fraud patterns &amp; key discoveries</a:t>
            </a:r>
          </a:p>
          <a:p>
            <a:pPr marL="539749" lvl="1" indent="-269875" algn="l">
              <a:lnSpc>
                <a:spcPts val="3249"/>
              </a:lnSpc>
              <a:buFont typeface="Arial"/>
              <a:buChar char="•"/>
            </a:pPr>
            <a:endParaRPr lang="en-US" sz="2499" spc="-137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269874" lvl="1" algn="l">
              <a:lnSpc>
                <a:spcPts val="3249"/>
              </a:lnSpc>
            </a:pP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2. </a:t>
            </a:r>
            <a:r>
              <a:rPr lang="en-US" sz="2499" b="1" spc="-137" dirty="0" err="1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UniqueID</a:t>
            </a: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 construction:  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UID = [card1 + addr1]</a:t>
            </a:r>
          </a:p>
          <a:p>
            <a:pPr marL="269874" lvl="1" algn="l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 Bold"/>
              <a:cs typeface="Work Sans Bold"/>
              <a:sym typeface="Work Sans"/>
            </a:endParaRPr>
          </a:p>
          <a:p>
            <a:pPr marL="269874" lvl="1" algn="l">
              <a:lnSpc>
                <a:spcPts val="3249"/>
              </a:lnSpc>
            </a:pPr>
            <a:r>
              <a:rPr lang="en-US" sz="2499" b="1" spc="-137" dirty="0">
                <a:solidFill>
                  <a:srgbClr val="FFFFFF"/>
                </a:solidFill>
                <a:latin typeface="Work Sans"/>
                <a:ea typeface="Work Sans Bold"/>
                <a:cs typeface="Work Sans Bold"/>
                <a:sym typeface="Work Sans"/>
              </a:rPr>
              <a:t>3. </a:t>
            </a: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Feature Engineering 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(24 features) - each transaction enriched with historical data from prior transactions only → no leakage guarantee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aggregations  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behavioral fingerprint  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product profile</a:t>
            </a:r>
          </a:p>
          <a:p>
            <a:pPr algn="l">
              <a:lnSpc>
                <a:spcPts val="3249"/>
              </a:lnSpc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</a:p>
          <a:p>
            <a:pPr marL="269874" lvl="1">
              <a:lnSpc>
                <a:spcPts val="3249"/>
              </a:lnSpc>
            </a:pP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4. Time-Based Split</a:t>
            </a: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  <a:r>
              <a:rPr lang="en-US" sz="2499" spc="-137" dirty="0">
                <a:solidFill>
                  <a:schemeClr val="bg1"/>
                </a:solidFill>
                <a:latin typeface="Work Sans"/>
                <a:ea typeface="Work Sans"/>
                <a:cs typeface="Work Sans"/>
                <a:sym typeface="Work Sans"/>
              </a:rPr>
              <a:t>(</a:t>
            </a:r>
            <a:r>
              <a:rPr lang="en-US" sz="2800" dirty="0">
                <a:solidFill>
                  <a:schemeClr val="bg1"/>
                </a:solidFill>
              </a:rPr>
              <a:t>60% train/ 20% </a:t>
            </a:r>
            <a:r>
              <a:rPr lang="en-US" sz="2800" dirty="0" err="1">
                <a:solidFill>
                  <a:schemeClr val="bg1"/>
                </a:solidFill>
              </a:rPr>
              <a:t>val</a:t>
            </a:r>
            <a:r>
              <a:rPr lang="en-US" sz="2800" dirty="0">
                <a:solidFill>
                  <a:schemeClr val="bg1"/>
                </a:solidFill>
              </a:rPr>
              <a:t> /20% frozen test</a:t>
            </a:r>
            <a:r>
              <a:rPr lang="en-US" sz="2499" spc="-137" dirty="0">
                <a:solidFill>
                  <a:schemeClr val="bg1"/>
                </a:solidFill>
                <a:latin typeface="Work Sans"/>
                <a:ea typeface="Work Sans"/>
                <a:cs typeface="Work Sans"/>
                <a:sym typeface="Work Sans"/>
              </a:rPr>
              <a:t>):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 shuffle  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 leakage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515600" y="4743533"/>
            <a:ext cx="7546550" cy="53347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69874" lvl="1" algn="l">
              <a:lnSpc>
                <a:spcPts val="3249"/>
              </a:lnSpc>
            </a:pPr>
            <a:r>
              <a:rPr lang="en-US" sz="2499" b="1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5. </a:t>
            </a:r>
            <a:r>
              <a:rPr lang="en-US" sz="2499" b="1" u="none" strike="noStrike" spc="-137" dirty="0" err="1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Optuna</a:t>
            </a:r>
            <a:r>
              <a:rPr lang="en-US" sz="2499" b="1" u="none" strike="noStrike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 Tuning with early stop (by selected </a:t>
            </a:r>
            <a:r>
              <a:rPr lang="en-US" sz="2499" b="1" u="none" strike="noStrike" spc="-137" dirty="0" err="1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metrica</a:t>
            </a:r>
            <a:r>
              <a:rPr lang="en-US" sz="2499" b="1" u="none" strike="noStrike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)</a:t>
            </a:r>
          </a:p>
          <a:p>
            <a:pPr marL="1079499" lvl="2" indent="-359833" algn="l">
              <a:lnSpc>
                <a:spcPts val="3249"/>
              </a:lnSpc>
              <a:buFont typeface="Arial"/>
              <a:buChar char="⚬"/>
            </a:pPr>
            <a:r>
              <a:rPr lang="en-US" sz="2499" u="none" strike="noStrike" spc="-137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independent per model </a:t>
            </a:r>
          </a:p>
          <a:p>
            <a:pPr marL="1079499" lvl="2" indent="-359833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V2: ROC AUC objective </a:t>
            </a:r>
          </a:p>
          <a:p>
            <a:pPr marL="1079499" lvl="2" indent="-359833">
              <a:lnSpc>
                <a:spcPts val="3249"/>
              </a:lnSpc>
              <a:buFont typeface="Arial"/>
              <a:buChar char="⚬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V3: PR AUC objective + instance weighting</a:t>
            </a:r>
          </a:p>
          <a:p>
            <a:pPr marL="719666" lvl="2">
              <a:lnSpc>
                <a:spcPts val="3249"/>
              </a:lnSpc>
            </a:pPr>
            <a:endParaRPr lang="en-US" sz="2499" spc="-137" dirty="0">
              <a:solidFill>
                <a:srgbClr val="FFFFFF"/>
              </a:solidFill>
              <a:latin typeface="Work Sans"/>
              <a:ea typeface="Work Sans Bold"/>
              <a:cs typeface="Work Sans Bold"/>
              <a:sym typeface="Work Sans"/>
            </a:endParaRPr>
          </a:p>
          <a:p>
            <a:pPr marL="269874" lvl="1" algn="l">
              <a:lnSpc>
                <a:spcPts val="3249"/>
              </a:lnSpc>
            </a:pPr>
            <a:r>
              <a:rPr lang="en-US" sz="2499" b="1" u="none" strike="noStrike" spc="-137" dirty="0">
                <a:solidFill>
                  <a:srgbClr val="FFFFFF"/>
                </a:solidFill>
                <a:latin typeface="Work Sans"/>
                <a:ea typeface="Work Sans Bold"/>
                <a:cs typeface="Work Sans Bold"/>
                <a:sym typeface="Work Sans"/>
              </a:rPr>
              <a:t>6. </a:t>
            </a:r>
            <a:r>
              <a:rPr lang="en-US" sz="2499" b="1" u="none" strike="noStrike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Ensemble implementation </a:t>
            </a:r>
          </a:p>
          <a:p>
            <a:pPr marL="1079499" lvl="2" indent="-359833">
              <a:lnSpc>
                <a:spcPts val="3249"/>
              </a:lnSpc>
              <a:buFont typeface="Arial"/>
              <a:buChar char="⚬"/>
            </a:pPr>
            <a:r>
              <a:rPr lang="en-US" sz="2800" dirty="0">
                <a:solidFill>
                  <a:schemeClr val="bg1"/>
                </a:solidFill>
              </a:rPr>
              <a:t>Average between V2 </a:t>
            </a:r>
            <a:r>
              <a:rPr lang="en-US" sz="2800" dirty="0" err="1">
                <a:solidFill>
                  <a:schemeClr val="bg1"/>
                </a:solidFill>
              </a:rPr>
              <a:t>LightGBM</a:t>
            </a:r>
            <a:r>
              <a:rPr lang="en-US" sz="2800" dirty="0">
                <a:solidFill>
                  <a:schemeClr val="bg1"/>
                </a:solidFill>
              </a:rPr>
              <a:t> &amp;V3 </a:t>
            </a:r>
            <a:r>
              <a:rPr lang="en-US" sz="2800" dirty="0" err="1">
                <a:solidFill>
                  <a:schemeClr val="bg1"/>
                </a:solidFill>
              </a:rPr>
              <a:t>LightGBM</a:t>
            </a:r>
            <a:endParaRPr lang="en-US" sz="2800" dirty="0">
              <a:solidFill>
                <a:schemeClr val="bg1"/>
              </a:solidFill>
            </a:endParaRPr>
          </a:p>
          <a:p>
            <a:pPr marL="719666" lvl="2">
              <a:lnSpc>
                <a:spcPts val="3249"/>
              </a:lnSpc>
            </a:pPr>
            <a:endParaRPr lang="en-US" sz="2499" b="1" u="none" strike="noStrike" spc="-137" dirty="0">
              <a:solidFill>
                <a:schemeClr val="bg1"/>
              </a:solidFill>
              <a:latin typeface="Work Sans"/>
              <a:ea typeface="Work Sans Bold"/>
              <a:cs typeface="Work Sans Bold"/>
              <a:sym typeface="Work Sans"/>
            </a:endParaRPr>
          </a:p>
          <a:p>
            <a:pPr marL="269874" lvl="1">
              <a:lnSpc>
                <a:spcPts val="3249"/>
              </a:lnSpc>
            </a:pPr>
            <a:r>
              <a:rPr lang="en-US" sz="2499" b="1" spc="-137" dirty="0">
                <a:solidFill>
                  <a:srgbClr val="FFFFFF"/>
                </a:solidFill>
                <a:latin typeface="Work Sans"/>
                <a:ea typeface="Work Sans Bold"/>
                <a:cs typeface="Work Sans Bold"/>
                <a:sym typeface="Work Sans"/>
              </a:rPr>
              <a:t>7. </a:t>
            </a:r>
            <a:r>
              <a:rPr lang="en-US" sz="2499" b="1" u="none" strike="noStrike" spc="-137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Final selection - </a:t>
            </a:r>
            <a:r>
              <a:rPr lang="en-US" sz="2499" b="1" spc="-137" dirty="0">
                <a:solidFill>
                  <a:srgbClr val="FFFFFF"/>
                </a:solidFill>
                <a:latin typeface="Work Sans Bold"/>
              </a:rPr>
              <a:t>Ensemble V2+V3</a:t>
            </a:r>
            <a:endParaRPr lang="en-US" sz="2499" b="1" spc="-137" dirty="0">
              <a:solidFill>
                <a:srgbClr val="FFFFFF"/>
              </a:solidFill>
              <a:latin typeface="Work Sans Bold"/>
              <a:sym typeface="Work Sans Bold"/>
            </a:endParaRPr>
          </a:p>
          <a:p>
            <a:pPr marL="1079499" lvl="2" indent="-359833">
              <a:lnSpc>
                <a:spcPts val="3249"/>
              </a:lnSpc>
              <a:buFont typeface="Arial"/>
              <a:buChar char="⚬"/>
            </a:pPr>
            <a:r>
              <a:rPr lang="en-US" sz="2800" dirty="0">
                <a:solidFill>
                  <a:schemeClr val="bg1"/>
                </a:solidFill>
              </a:rPr>
              <a:t>Test ROC = 0.8990 </a:t>
            </a:r>
          </a:p>
          <a:p>
            <a:pPr marL="1079499" lvl="2" indent="-359833">
              <a:lnSpc>
                <a:spcPts val="3249"/>
              </a:lnSpc>
              <a:buFont typeface="Arial"/>
              <a:buChar char="⚬"/>
            </a:pPr>
            <a:r>
              <a:rPr lang="en-US" sz="2800" dirty="0">
                <a:solidFill>
                  <a:schemeClr val="bg1"/>
                </a:solidFill>
              </a:rPr>
              <a:t>Test PR = 0.5178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666750" y="190021"/>
            <a:ext cx="16954500" cy="2686050"/>
            <a:chOff x="0" y="0"/>
            <a:chExt cx="4987154" cy="7901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 dirty="0"/>
            </a:p>
          </p:txBody>
        </p:sp>
      </p:grpSp>
      <p:sp>
        <p:nvSpPr>
          <p:cNvPr id="5" name="Freeform 5"/>
          <p:cNvSpPr/>
          <p:nvPr/>
        </p:nvSpPr>
        <p:spPr>
          <a:xfrm>
            <a:off x="15087600" y="926325"/>
            <a:ext cx="3009907" cy="1949746"/>
          </a:xfrm>
          <a:custGeom>
            <a:avLst/>
            <a:gdLst/>
            <a:ahLst/>
            <a:cxnLst/>
            <a:rect l="l" t="t" r="r" b="b"/>
            <a:pathLst>
              <a:path w="7748974" h="4796014">
                <a:moveTo>
                  <a:pt x="0" y="0"/>
                </a:moveTo>
                <a:lnTo>
                  <a:pt x="7748975" y="0"/>
                </a:lnTo>
                <a:lnTo>
                  <a:pt x="7748975" y="4796014"/>
                </a:lnTo>
                <a:lnTo>
                  <a:pt x="0" y="4796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588"/>
            </a:stretch>
          </a:blipFill>
        </p:spPr>
        <p:txBody>
          <a:bodyPr/>
          <a:lstStyle/>
          <a:p>
            <a:endParaRPr lang="en-IL"/>
          </a:p>
        </p:txBody>
      </p:sp>
      <p:sp>
        <p:nvSpPr>
          <p:cNvPr id="8" name="TextBox 8"/>
          <p:cNvSpPr txBox="1"/>
          <p:nvPr/>
        </p:nvSpPr>
        <p:spPr>
          <a:xfrm>
            <a:off x="1143000" y="647700"/>
            <a:ext cx="14141909" cy="17953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 dirty="0">
                <a:solidFill>
                  <a:srgbClr val="FFFFFF"/>
                </a:solidFill>
                <a:latin typeface="Work Sans Semi-Bold"/>
              </a:rPr>
              <a:t>Kaggle Leaderboard Context &amp; </a:t>
            </a:r>
          </a:p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 dirty="0">
                <a:solidFill>
                  <a:srgbClr val="FFFFFF"/>
                </a:solidFill>
                <a:latin typeface="Work Sans Semi-Bold"/>
              </a:rPr>
              <a:t>Why Top Solutions Scored Higher</a:t>
            </a:r>
            <a:endParaRPr lang="en-US" sz="6999" b="1" spc="-384" dirty="0">
              <a:solidFill>
                <a:srgbClr val="FFFFFF"/>
              </a:solidFill>
              <a:latin typeface="Work Sans Semi-Bold"/>
              <a:sym typeface="Work Sans Semi-Bold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E9947-0DBE-94F3-7F82-05E16BAA8D58}"/>
              </a:ext>
            </a:extLst>
          </p:cNvPr>
          <p:cNvSpPr txBox="1"/>
          <p:nvPr/>
        </p:nvSpPr>
        <p:spPr>
          <a:xfrm>
            <a:off x="654435" y="8839350"/>
            <a:ext cx="16046909" cy="1246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My Final chose: Ensemble V2+V3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Test ROC 0.8990 → comparable to top 20% of 6,381 teams.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99" spc="-137" dirty="0">
                <a:solidFill>
                  <a:srgbClr val="FFFFFF"/>
                </a:solidFill>
                <a:latin typeface="Work Sans"/>
              </a:rPr>
              <a:t>Note: direct comparison is approximate — different test periods.</a:t>
            </a:r>
            <a:endParaRPr lang="en-IL" sz="2499" spc="-137" dirty="0">
              <a:solidFill>
                <a:srgbClr val="FFFFFF"/>
              </a:solidFill>
              <a:latin typeface="Work Sans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1376D453-B8E3-F763-25B0-442101930A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406385"/>
              </p:ext>
            </p:extLst>
          </p:nvPr>
        </p:nvGraphicFramePr>
        <p:xfrm>
          <a:off x="677384" y="3456246"/>
          <a:ext cx="17229616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17">
                  <a:extLst>
                    <a:ext uri="{9D8B030D-6E8A-4147-A177-3AD203B41FA5}">
                      <a16:colId xmlns:a16="http://schemas.microsoft.com/office/drawing/2014/main" val="1645635008"/>
                    </a:ext>
                  </a:extLst>
                </a:gridCol>
                <a:gridCol w="5850399">
                  <a:extLst>
                    <a:ext uri="{9D8B030D-6E8A-4147-A177-3AD203B41FA5}">
                      <a16:colId xmlns:a16="http://schemas.microsoft.com/office/drawing/2014/main" val="60289018"/>
                    </a:ext>
                  </a:extLst>
                </a:gridCol>
                <a:gridCol w="6705600">
                  <a:extLst>
                    <a:ext uri="{9D8B030D-6E8A-4147-A177-3AD203B41FA5}">
                      <a16:colId xmlns:a16="http://schemas.microsoft.com/office/drawing/2014/main" val="4421223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Technique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Why top solutions used 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Why we couldn't / didn't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31821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Full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Optuna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tuning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Adds genuine architectural diversity to ensemble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~17h/trial on CPU — infeasible. Default params below </a:t>
                      </a:r>
                      <a:r>
                        <a:rPr lang="en-US" sz="2400" dirty="0" err="1"/>
                        <a:t>LightGBM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7206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ensemble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Three architecturally different models, uncorrelated errors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excluded — see above</a:t>
                      </a:r>
                      <a:r>
                        <a:rPr lang="en-US" sz="2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>
                        <a:buNone/>
                      </a:pPr>
                      <a:r>
                        <a:rPr lang="en-US" sz="2400"/>
                        <a:t>XGBoost</a:t>
                      </a:r>
                      <a:r>
                        <a:rPr lang="en-US" sz="2400" dirty="0"/>
                        <a:t> alone below </a:t>
                      </a:r>
                      <a:r>
                        <a:rPr lang="en-US" sz="2400" dirty="0" err="1"/>
                        <a:t>LightGBM</a:t>
                      </a:r>
                      <a:r>
                        <a:rPr lang="en-US" sz="2400" dirty="0"/>
                        <a:t> on PR AUC.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0811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100s of feature iterations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GPU → train+evaluate in minutes → rapid exploration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Each iteration hours on CPU → only 5–10 experiments feasible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4518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UID anchor (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TransactionDT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− D1)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Adds aggregation features on finer sub-groups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Tested in EDA: ×5.3 group fragmentation, fraud purity drops. Not viable as UID replacement.</a:t>
                      </a:r>
                      <a:endParaRPr lang="en-US" sz="2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85984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Feature selection (V-columns)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Reduce noise, speed up training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V-columns anonymous — </a:t>
                      </a:r>
                      <a:r>
                        <a:rPr lang="en-US" sz="24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en-US" sz="2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handles selection implicitly. Manual removal risks discarding valid signal.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41304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6750" y="190021"/>
            <a:ext cx="16954500" cy="2686050"/>
            <a:chOff x="0" y="0"/>
            <a:chExt cx="4987154" cy="7901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7156" cy="790100"/>
            </a:xfrm>
            <a:custGeom>
              <a:avLst/>
              <a:gdLst/>
              <a:ahLst/>
              <a:cxnLst/>
              <a:rect l="l" t="t" r="r" b="b"/>
              <a:pathLst>
                <a:path w="4987156" h="790100">
                  <a:moveTo>
                    <a:pt x="4640197" y="0"/>
                  </a:moveTo>
                  <a:lnTo>
                    <a:pt x="148415" y="0"/>
                  </a:lnTo>
                  <a:cubicBezTo>
                    <a:pt x="66448" y="0"/>
                    <a:pt x="0" y="66448"/>
                    <a:pt x="0" y="148415"/>
                  </a:cubicBezTo>
                  <a:lnTo>
                    <a:pt x="0" y="510707"/>
                  </a:lnTo>
                  <a:cubicBezTo>
                    <a:pt x="0" y="547218"/>
                    <a:pt x="13458" y="582448"/>
                    <a:pt x="37800" y="609659"/>
                  </a:cubicBezTo>
                  <a:lnTo>
                    <a:pt x="154967" y="740636"/>
                  </a:lnTo>
                  <a:cubicBezTo>
                    <a:pt x="183122" y="772111"/>
                    <a:pt x="223353" y="790101"/>
                    <a:pt x="265584" y="790100"/>
                  </a:cubicBezTo>
                  <a:lnTo>
                    <a:pt x="4838740" y="790100"/>
                  </a:lnTo>
                  <a:cubicBezTo>
                    <a:pt x="4878102" y="790100"/>
                    <a:pt x="4915853" y="774464"/>
                    <a:pt x="4943686" y="746630"/>
                  </a:cubicBezTo>
                  <a:cubicBezTo>
                    <a:pt x="4971519" y="718797"/>
                    <a:pt x="4987156" y="681047"/>
                    <a:pt x="4987156" y="641685"/>
                  </a:cubicBezTo>
                  <a:lnTo>
                    <a:pt x="4987156" y="366141"/>
                  </a:lnTo>
                  <a:cubicBezTo>
                    <a:pt x="4987156" y="329143"/>
                    <a:pt x="4973337" y="293478"/>
                    <a:pt x="4948407" y="266140"/>
                  </a:cubicBezTo>
                  <a:lnTo>
                    <a:pt x="4749864" y="48414"/>
                  </a:lnTo>
                  <a:cubicBezTo>
                    <a:pt x="4721742" y="17574"/>
                    <a:pt x="4681934" y="0"/>
                    <a:pt x="4640197" y="0"/>
                  </a:cubicBezTo>
                  <a:close/>
                </a:path>
              </a:pathLst>
            </a:custGeom>
            <a:solidFill>
              <a:srgbClr val="103760"/>
            </a:solidFill>
          </p:spPr>
          <p:txBody>
            <a:bodyPr/>
            <a:lstStyle/>
            <a:p>
              <a:endParaRPr lang="en-IL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523476" y="888970"/>
            <a:ext cx="16954500" cy="930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  <a:spcBef>
                <a:spcPct val="0"/>
              </a:spcBef>
            </a:pPr>
            <a:r>
              <a:rPr lang="en-US" sz="6999" b="1" spc="-384">
                <a:solidFill>
                  <a:srgbClr val="FFFFFF"/>
                </a:solidFill>
                <a:latin typeface="Work Sans Semi-Bold"/>
                <a:ea typeface="Work Sans Semi-Bold"/>
                <a:cs typeface="Work Sans Semi-Bold"/>
                <a:sym typeface="Work Sans Semi-Bold"/>
              </a:rPr>
              <a:t>Future Improvements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6750" y="3196156"/>
            <a:ext cx="16954500" cy="492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0306" lvl="1" indent="-265153" algn="l">
              <a:lnSpc>
                <a:spcPts val="3193"/>
              </a:lnSpc>
              <a:buFont typeface="Arial"/>
              <a:buChar char="•"/>
            </a:pPr>
            <a:r>
              <a:rPr lang="en-US" sz="2456" b="1" spc="-135" dirty="0" err="1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CatBoost</a:t>
            </a:r>
            <a:r>
              <a:rPr lang="en-US" sz="2456" b="1" spc="-135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 with GPU</a:t>
            </a:r>
            <a:r>
              <a:rPr lang="en-US" sz="2456" spc="-135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</a:p>
          <a:p>
            <a:pPr algn="l">
              <a:lnSpc>
                <a:spcPts val="3193"/>
              </a:lnSpc>
            </a:pPr>
            <a:endParaRPr lang="en-US" sz="2456" spc="-135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530306" lvl="1" indent="-265153" algn="l">
              <a:lnSpc>
                <a:spcPts val="3193"/>
              </a:lnSpc>
              <a:buFont typeface="Arial"/>
              <a:buChar char="•"/>
            </a:pPr>
            <a:r>
              <a:rPr lang="en-US" sz="2456" b="1" spc="-135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MLP (Neural Network) with GPU</a:t>
            </a:r>
            <a:r>
              <a:rPr lang="en-US" sz="2456" spc="-135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</a:p>
          <a:p>
            <a:pPr marL="1060611" lvl="2" indent="-353537" algn="l">
              <a:lnSpc>
                <a:spcPts val="3193"/>
              </a:lnSpc>
              <a:buFont typeface="Arial"/>
              <a:buChar char="⚬"/>
            </a:pPr>
            <a:r>
              <a:rPr lang="en-US" sz="2456" spc="-135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learns non-linear boundaries fundamentally different from tree-based models </a:t>
            </a:r>
          </a:p>
          <a:p>
            <a:pPr marL="530306" lvl="1" indent="-265153" algn="l">
              <a:lnSpc>
                <a:spcPts val="3193"/>
              </a:lnSpc>
              <a:buFont typeface="Arial"/>
              <a:buChar char="•"/>
            </a:pPr>
            <a:endParaRPr lang="en-US" sz="2456" spc="-135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530306" lvl="1" indent="-265153" algn="l">
              <a:lnSpc>
                <a:spcPts val="3193"/>
              </a:lnSpc>
              <a:buFont typeface="Arial"/>
              <a:buChar char="•"/>
            </a:pPr>
            <a:r>
              <a:rPr lang="en-US" sz="2456" b="1" spc="-135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Isolation Forest as meta-feature</a:t>
            </a:r>
            <a:r>
              <a:rPr lang="en-US" sz="2456" spc="-135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</a:p>
          <a:p>
            <a:pPr marL="1060611" lvl="2" indent="-353537" algn="l">
              <a:lnSpc>
                <a:spcPts val="3193"/>
              </a:lnSpc>
              <a:buFont typeface="Arial"/>
              <a:buChar char="⚬"/>
            </a:pPr>
            <a:r>
              <a:rPr lang="en-US" sz="2456" spc="-135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unsupervised anomaly score added as input to selected ML-model</a:t>
            </a:r>
          </a:p>
          <a:p>
            <a:pPr marL="1060611" lvl="2" indent="-353537" algn="l">
              <a:lnSpc>
                <a:spcPts val="3193"/>
              </a:lnSpc>
              <a:buFont typeface="Arial"/>
              <a:buChar char="⚬"/>
            </a:pPr>
            <a:r>
              <a:rPr lang="en-US" sz="2456" spc="-135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captures structural unusualness independently of fraud label</a:t>
            </a:r>
          </a:p>
          <a:p>
            <a:pPr algn="l">
              <a:lnSpc>
                <a:spcPts val="3193"/>
              </a:lnSpc>
            </a:pPr>
            <a:endParaRPr lang="en-US" sz="2456" spc="-135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530306" lvl="1" indent="-265153">
              <a:lnSpc>
                <a:spcPts val="3193"/>
              </a:lnSpc>
              <a:buFont typeface="Arial"/>
              <a:buChar char="•"/>
            </a:pPr>
            <a:r>
              <a:rPr lang="en-US" sz="2456" b="1" spc="-135" dirty="0">
                <a:solidFill>
                  <a:srgbClr val="FFFFFF"/>
                </a:solidFill>
                <a:latin typeface="Work Sans Bold"/>
                <a:ea typeface="Work Sans Bold"/>
                <a:cs typeface="Work Sans Bold"/>
                <a:sym typeface="Work Sans Bold"/>
              </a:rPr>
              <a:t>Target </a:t>
            </a:r>
            <a:r>
              <a:rPr lang="en-US" sz="2456" b="1" spc="-135" dirty="0">
                <a:solidFill>
                  <a:srgbClr val="FFFFFF"/>
                </a:solidFill>
                <a:latin typeface="Work Sans Bold"/>
                <a:sym typeface="Work Sans Bold"/>
              </a:rPr>
              <a:t>Encoding </a:t>
            </a:r>
            <a:r>
              <a:rPr lang="en-US" sz="2456" b="1" spc="-135" dirty="0">
                <a:solidFill>
                  <a:srgbClr val="FFFFFF"/>
                </a:solidFill>
                <a:latin typeface="Work Sans Bold"/>
              </a:rPr>
              <a:t>(card1, addr1, </a:t>
            </a:r>
            <a:r>
              <a:rPr lang="en-US" sz="2456" b="1" spc="-135" dirty="0" err="1">
                <a:solidFill>
                  <a:srgbClr val="FFFFFF"/>
                </a:solidFill>
                <a:latin typeface="Work Sans Bold"/>
              </a:rPr>
              <a:t>P_emaildomain</a:t>
            </a:r>
            <a:r>
              <a:rPr lang="en-US" sz="2456" b="1" spc="-135" dirty="0">
                <a:solidFill>
                  <a:srgbClr val="FFFFFF"/>
                </a:solidFill>
                <a:latin typeface="Work Sans Bold"/>
              </a:rPr>
              <a:t>)</a:t>
            </a:r>
            <a:endParaRPr lang="en-US" sz="2456" b="1" spc="-135" dirty="0">
              <a:solidFill>
                <a:srgbClr val="FFFFFF"/>
              </a:solidFill>
              <a:latin typeface="Work Sans Bold"/>
              <a:sym typeface="Work Sans Bold"/>
            </a:endParaRPr>
          </a:p>
          <a:p>
            <a:pPr marL="1060611" lvl="2" indent="-353537" algn="l">
              <a:lnSpc>
                <a:spcPts val="3193"/>
              </a:lnSpc>
              <a:buFont typeface="Arial"/>
              <a:buChar char="⚬"/>
            </a:pPr>
            <a:r>
              <a:rPr lang="en-US" sz="2456" spc="-135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leave-one-out target encoding for card1, addr1, </a:t>
            </a:r>
            <a:r>
              <a:rPr lang="en-US" sz="2456" spc="-135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P_emaildomain</a:t>
            </a:r>
            <a:r>
              <a:rPr lang="en-US" sz="2456" spc="-135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</a:p>
          <a:p>
            <a:pPr marL="1060611" lvl="2" indent="-353537">
              <a:lnSpc>
                <a:spcPts val="3193"/>
              </a:lnSpc>
              <a:buFont typeface="Arial"/>
              <a:buChar char="⚬"/>
            </a:pPr>
            <a:r>
              <a:rPr lang="en-US" sz="2456" spc="-135" dirty="0">
                <a:solidFill>
                  <a:srgbClr val="FFFFFF"/>
                </a:solidFill>
                <a:latin typeface="Work Sans"/>
              </a:rPr>
              <a:t>requires careful OOF implementation — added complexity</a:t>
            </a:r>
            <a:r>
              <a:rPr lang="en-US" sz="2456" spc="-135" dirty="0">
                <a:solidFill>
                  <a:schemeClr val="bg1"/>
                </a:solidFill>
                <a:latin typeface="Work Sans"/>
              </a:rPr>
              <a:t> </a:t>
            </a:r>
            <a:r>
              <a:rPr lang="en-US" sz="2800" dirty="0">
                <a:solidFill>
                  <a:schemeClr val="bg1"/>
                </a:solidFill>
              </a:rPr>
              <a:t>on CPU each experiment takes long hours/days</a:t>
            </a:r>
            <a:endParaRPr lang="en-US" sz="2456" spc="-135" dirty="0">
              <a:solidFill>
                <a:schemeClr val="bg1"/>
              </a:solidFill>
              <a:latin typeface="Work Sans"/>
              <a:sym typeface="Work Sans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13769662" y="3234256"/>
            <a:ext cx="4148381" cy="2332484"/>
            <a:chOff x="0" y="0"/>
            <a:chExt cx="1066911" cy="59988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066911" cy="599885"/>
            </a:xfrm>
            <a:custGeom>
              <a:avLst/>
              <a:gdLst/>
              <a:ahLst/>
              <a:cxnLst/>
              <a:rect l="l" t="t" r="r" b="b"/>
              <a:pathLst>
                <a:path w="1066911" h="599885">
                  <a:moveTo>
                    <a:pt x="74650" y="0"/>
                  </a:moveTo>
                  <a:lnTo>
                    <a:pt x="992261" y="0"/>
                  </a:lnTo>
                  <a:cubicBezTo>
                    <a:pt x="1012059" y="0"/>
                    <a:pt x="1031047" y="7865"/>
                    <a:pt x="1045046" y="21864"/>
                  </a:cubicBezTo>
                  <a:cubicBezTo>
                    <a:pt x="1059046" y="35864"/>
                    <a:pt x="1066911" y="54852"/>
                    <a:pt x="1066911" y="74650"/>
                  </a:cubicBezTo>
                  <a:lnTo>
                    <a:pt x="1066911" y="525235"/>
                  </a:lnTo>
                  <a:cubicBezTo>
                    <a:pt x="1066911" y="545034"/>
                    <a:pt x="1059046" y="564021"/>
                    <a:pt x="1045046" y="578021"/>
                  </a:cubicBezTo>
                  <a:cubicBezTo>
                    <a:pt x="1031047" y="592020"/>
                    <a:pt x="1012059" y="599885"/>
                    <a:pt x="992261" y="599885"/>
                  </a:cubicBezTo>
                  <a:lnTo>
                    <a:pt x="74650" y="599885"/>
                  </a:lnTo>
                  <a:cubicBezTo>
                    <a:pt x="54852" y="599885"/>
                    <a:pt x="35864" y="592020"/>
                    <a:pt x="21864" y="578021"/>
                  </a:cubicBezTo>
                  <a:cubicBezTo>
                    <a:pt x="7865" y="564021"/>
                    <a:pt x="0" y="545034"/>
                    <a:pt x="0" y="525235"/>
                  </a:cubicBezTo>
                  <a:lnTo>
                    <a:pt x="0" y="74650"/>
                  </a:lnTo>
                  <a:cubicBezTo>
                    <a:pt x="0" y="54852"/>
                    <a:pt x="7865" y="35864"/>
                    <a:pt x="21864" y="21864"/>
                  </a:cubicBezTo>
                  <a:cubicBezTo>
                    <a:pt x="35864" y="7865"/>
                    <a:pt x="54852" y="0"/>
                    <a:pt x="74650" y="0"/>
                  </a:cubicBezTo>
                  <a:close/>
                </a:path>
              </a:pathLst>
            </a:custGeom>
            <a:blipFill>
              <a:blip r:embed="rId2"/>
              <a:stretch>
                <a:fillRect l="-202" r="-202"/>
              </a:stretch>
            </a:blipFill>
          </p:spPr>
          <p:txBody>
            <a:bodyPr/>
            <a:lstStyle/>
            <a:p>
              <a:endParaRPr lang="en-IL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37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832999" y="2276265"/>
            <a:ext cx="10622003" cy="5734470"/>
          </a:xfrm>
          <a:custGeom>
            <a:avLst/>
            <a:gdLst/>
            <a:ahLst/>
            <a:cxnLst/>
            <a:rect l="l" t="t" r="r" b="b"/>
            <a:pathLst>
              <a:path w="10622003" h="5734470">
                <a:moveTo>
                  <a:pt x="0" y="0"/>
                </a:moveTo>
                <a:lnTo>
                  <a:pt x="10622002" y="0"/>
                </a:lnTo>
                <a:lnTo>
                  <a:pt x="10622002" y="5734470"/>
                </a:lnTo>
                <a:lnTo>
                  <a:pt x="0" y="57344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13904</TotalTime>
  <Words>1874</Words>
  <Application>Microsoft Office PowerPoint</Application>
  <PresentationFormat>Custom</PresentationFormat>
  <Paragraphs>252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Work Sans Bold</vt:lpstr>
      <vt:lpstr>Calibri</vt:lpstr>
      <vt:lpstr>Work Sans Italics</vt:lpstr>
      <vt:lpstr>Canva Sans</vt:lpstr>
      <vt:lpstr>Arial</vt:lpstr>
      <vt:lpstr>Work Sans</vt:lpstr>
      <vt:lpstr>Work Sans Semi-Bold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- Fraud Detection Project</dc:title>
  <dc:creator>Irena Shtelman Kravitz</dc:creator>
  <dc:description>Presentation - Fraud Detection Project</dc:description>
  <cp:lastModifiedBy>Irena Shtelman Kravitz</cp:lastModifiedBy>
  <cp:revision>91</cp:revision>
  <dcterms:created xsi:type="dcterms:W3CDTF">2006-08-16T00:00:00Z</dcterms:created>
  <dcterms:modified xsi:type="dcterms:W3CDTF">2026-03-29T16:06:05Z</dcterms:modified>
  <dc:identifier>DAHDEzWDdbk</dc:identifier>
</cp:coreProperties>
</file>